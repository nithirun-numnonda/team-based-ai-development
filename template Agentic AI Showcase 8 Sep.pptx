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slide+xml" PartName="/ppt/slides/slide127.xml"/>
  <Override ContentType="application/vnd.openxmlformats-officedocument.presentationml.slide+xml" PartName="/ppt/slides/slide128.xml"/>
  <Override ContentType="application/vnd.openxmlformats-officedocument.presentationml.slide+xml" PartName="/ppt/slides/slide129.xml"/>
  <Override ContentType="application/vnd.openxmlformats-officedocument.presentationml.slide+xml" PartName="/ppt/slides/slide130.xml"/>
  <Override ContentType="application/vnd.openxmlformats-officedocument.presentationml.slide+xml" PartName="/ppt/slides/slide131.xml"/>
  <Override ContentType="application/vnd.openxmlformats-officedocument.presentationml.slide+xml" PartName="/ppt/slides/slide132.xml"/>
  <Override ContentType="application/vnd.openxmlformats-officedocument.presentationml.slide+xml" PartName="/ppt/slides/slide133.xml"/>
  <Override ContentType="application/vnd.openxmlformats-officedocument.presentationml.slide+xml" PartName="/ppt/slides/slide134.xml"/>
  <Override ContentType="application/vnd.openxmlformats-officedocument.presentationml.slide+xml" PartName="/ppt/slides/slide135.xml"/>
  <Override ContentType="application/vnd.openxmlformats-officedocument.presentationml.slide+xml" PartName="/ppt/slides/slide136.xml"/>
  <Override ContentType="application/vnd.openxmlformats-officedocument.presentationml.slide+xml" PartName="/ppt/slides/slide137.xml"/>
  <Override ContentType="application/vnd.openxmlformats-officedocument.presentationml.slide+xml" PartName="/ppt/slides/slide138.xml"/>
  <Override ContentType="application/vnd.openxmlformats-officedocument.presentationml.slide+xml" PartName="/ppt/slides/slide139.xml"/>
  <Override ContentType="application/vnd.openxmlformats-officedocument.presentationml.slide+xml" PartName="/ppt/slides/slide140.xml"/>
  <Override ContentType="application/vnd.openxmlformats-officedocument.presentationml.slide+xml" PartName="/ppt/slides/slide141.xml"/>
  <Override ContentType="application/vnd.openxmlformats-officedocument.presentationml.slide+xml" PartName="/ppt/slides/slide142.xml"/>
  <Override ContentType="application/vnd.openxmlformats-officedocument.presentationml.slide+xml" PartName="/ppt/slides/slide143.xml"/>
  <Override ContentType="application/vnd.openxmlformats-officedocument.presentationml.slide+xml" PartName="/ppt/slides/slide144.xml"/>
  <Override ContentType="application/vnd.openxmlformats-officedocument.presentationml.slide+xml" PartName="/ppt/slides/slide145.xml"/>
  <Override ContentType="application/vnd.openxmlformats-officedocument.presentationml.slide+xml" PartName="/ppt/slides/slide146.xml"/>
  <Override ContentType="application/vnd.openxmlformats-officedocument.presentationml.slide+xml" PartName="/ppt/slides/slide147.xml"/>
  <Override ContentType="application/vnd.openxmlformats-officedocument.presentationml.slide+xml" PartName="/ppt/slides/slide148.xml"/>
  <Override ContentType="application/vnd.openxmlformats-officedocument.presentationml.slide+xml" PartName="/ppt/slides/slide149.xml"/>
  <Override ContentType="application/vnd.openxmlformats-officedocument.presentationml.slide+xml" PartName="/ppt/slides/slide150.xml"/>
  <Override ContentType="application/vnd.openxmlformats-officedocument.presentationml.slide+xml" PartName="/ppt/slides/slide151.xml"/>
  <Override ContentType="application/vnd.openxmlformats-officedocument.presentationml.slide+xml" PartName="/ppt/slides/slide152.xml"/>
  <Override ContentType="application/vnd.openxmlformats-officedocument.presentationml.slide+xml" PartName="/ppt/slides/slide153.xml"/>
  <Override ContentType="application/vnd.openxmlformats-officedocument.presentationml.slide+xml" PartName="/ppt/slides/slide154.xml"/>
  <Override ContentType="application/vnd.openxmlformats-officedocument.presentationml.slide+xml" PartName="/ppt/slides/slide155.xml"/>
  <Override ContentType="application/vnd.openxmlformats-officedocument.presentationml.slide+xml" PartName="/ppt/slides/slide156.xml"/>
  <Override ContentType="application/vnd.openxmlformats-officedocument.presentationml.slide+xml" PartName="/ppt/slides/slide157.xml"/>
  <Override ContentType="application/vnd.openxmlformats-officedocument.presentationml.slide+xml" PartName="/ppt/slides/slide158.xml"/>
  <Override ContentType="application/vnd.openxmlformats-officedocument.presentationml.slide+xml" PartName="/ppt/slides/slide159.xml"/>
  <Override ContentType="application/vnd.openxmlformats-officedocument.presentationml.slide+xml" PartName="/ppt/slides/slide160.xml"/>
  <Override ContentType="application/vnd.openxmlformats-officedocument.presentationml.slide+xml" PartName="/ppt/slides/slide161.xml"/>
  <Override ContentType="application/vnd.openxmlformats-officedocument.presentationml.slide+xml" PartName="/ppt/slides/slide162.xml"/>
  <Override ContentType="application/vnd.openxmlformats-officedocument.presentationml.slide+xml" PartName="/ppt/slides/slide163.xml"/>
  <Override ContentType="application/vnd.openxmlformats-officedocument.presentationml.slide+xml" PartName="/ppt/slides/slide164.xml"/>
  <Override ContentType="application/vnd.openxmlformats-officedocument.presentationml.slide+xml" PartName="/ppt/slides/slide165.xml"/>
  <Override ContentType="application/vnd.openxmlformats-officedocument.presentationml.slide+xml" PartName="/ppt/slides/slide166.xml"/>
  <Override ContentType="application/vnd.openxmlformats-officedocument.presentationml.slide+xml" PartName="/ppt/slides/slide167.xml"/>
  <Override ContentType="application/vnd.openxmlformats-officedocument.presentationml.slide+xml" PartName="/ppt/slides/slide168.xml"/>
  <Override ContentType="application/vnd.openxmlformats-officedocument.presentationml.slide+xml" PartName="/ppt/slides/slide169.xml"/>
  <Override ContentType="application/vnd.openxmlformats-officedocument.presentationml.slide+xml" PartName="/ppt/slides/slide170.xml"/>
  <Override ContentType="application/vnd.openxmlformats-officedocument.presentationml.slide+xml" PartName="/ppt/slides/slide171.xml"/>
  <Override ContentType="application/vnd.openxmlformats-officedocument.presentationml.slide+xml" PartName="/ppt/slides/slide172.xml"/>
  <Override ContentType="application/vnd.openxmlformats-officedocument.presentationml.slide+xml" PartName="/ppt/slides/slide173.xml"/>
  <Override ContentType="application/vnd.openxmlformats-officedocument.presentationml.slide+xml" PartName="/ppt/slides/slide174.xml"/>
  <Override ContentType="application/vnd.openxmlformats-officedocument.presentationml.slide+xml" PartName="/ppt/slides/slide175.xml"/>
  <Override ContentType="application/vnd.openxmlformats-officedocument.presentationml.slide+xml" PartName="/ppt/slides/slide17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</p:sldIdLst>
  <p:sldSz cx="18288000" cy="10287000"/>
  <p:notesSz cx="6858000" cy="9144000"/>
  <p:embeddedFontLst>
    <p:embeddedFont>
      <p:font typeface="League Spartan" charset="1" panose="00000800000000000000"/>
      <p:regular r:id="rId182"/>
    </p:embeddedFont>
    <p:embeddedFont>
      <p:font typeface="Poppins Bold" charset="1" panose="00000800000000000000"/>
      <p:regular r:id="rId183"/>
    </p:embeddedFont>
    <p:embeddedFont>
      <p:font typeface="Prompt" charset="1" panose="00000500000000000000"/>
      <p:regular r:id="rId184"/>
    </p:embeddedFont>
    <p:embeddedFont>
      <p:font typeface="Prompt Bold" charset="1" panose="00000800000000000000"/>
      <p:regular r:id="rId185"/>
    </p:embeddedFont>
    <p:embeddedFont>
      <p:font typeface="Canva Sans" charset="1" panose="020B0503030501040103"/>
      <p:regular r:id="rId186"/>
    </p:embeddedFont>
    <p:embeddedFont>
      <p:font typeface="Arial Bold" charset="1" panose="020B0704020202020204"/>
      <p:regular r:id="rId187"/>
    </p:embeddedFont>
    <p:embeddedFont>
      <p:font typeface="Poppins" charset="1" panose="00000500000000000000"/>
      <p:regular r:id="rId188"/>
    </p:embeddedFont>
    <p:embeddedFont>
      <p:font typeface="Arimo" charset="1" panose="020B0604020202020204"/>
      <p:regular r:id="rId189"/>
    </p:embeddedFont>
    <p:embeddedFont>
      <p:font typeface="Roboto" charset="1" panose="02000000000000000000"/>
      <p:regular r:id="rId190"/>
    </p:embeddedFont>
    <p:embeddedFont>
      <p:font typeface="Arial" charset="1" panose="020B0604020202020204"/>
      <p:regular r:id="rId196"/>
    </p:embeddedFont>
    <p:embeddedFont>
      <p:font typeface="Courier New" charset="1" panose="02070309020205020404"/>
      <p:regular r:id="rId197"/>
    </p:embeddedFont>
    <p:embeddedFont>
      <p:font typeface="Arial Bold Italics" charset="1" panose="020B0704020202090204"/>
      <p:regular r:id="rId198"/>
    </p:embeddedFont>
    <p:embeddedFont>
      <p:font typeface="Canva Sans Bold" charset="1" panose="020B0803030501040103"/>
      <p:regular r:id="rId19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slides/slide127.xml" Type="http://schemas.openxmlformats.org/officeDocument/2006/relationships/slide"/><Relationship Id="rId133" Target="slides/slide128.xml" Type="http://schemas.openxmlformats.org/officeDocument/2006/relationships/slide"/><Relationship Id="rId134" Target="slides/slide129.xml" Type="http://schemas.openxmlformats.org/officeDocument/2006/relationships/slide"/><Relationship Id="rId135" Target="slides/slide130.xml" Type="http://schemas.openxmlformats.org/officeDocument/2006/relationships/slide"/><Relationship Id="rId136" Target="slides/slide131.xml" Type="http://schemas.openxmlformats.org/officeDocument/2006/relationships/slide"/><Relationship Id="rId137" Target="slides/slide132.xml" Type="http://schemas.openxmlformats.org/officeDocument/2006/relationships/slide"/><Relationship Id="rId138" Target="slides/slide133.xml" Type="http://schemas.openxmlformats.org/officeDocument/2006/relationships/slide"/><Relationship Id="rId139" Target="slides/slide134.xml" Type="http://schemas.openxmlformats.org/officeDocument/2006/relationships/slide"/><Relationship Id="rId14" Target="slides/slide9.xml" Type="http://schemas.openxmlformats.org/officeDocument/2006/relationships/slide"/><Relationship Id="rId140" Target="slides/slide135.xml" Type="http://schemas.openxmlformats.org/officeDocument/2006/relationships/slide"/><Relationship Id="rId141" Target="slides/slide136.xml" Type="http://schemas.openxmlformats.org/officeDocument/2006/relationships/slide"/><Relationship Id="rId142" Target="slides/slide137.xml" Type="http://schemas.openxmlformats.org/officeDocument/2006/relationships/slide"/><Relationship Id="rId143" Target="slides/slide138.xml" Type="http://schemas.openxmlformats.org/officeDocument/2006/relationships/slide"/><Relationship Id="rId144" Target="slides/slide139.xml" Type="http://schemas.openxmlformats.org/officeDocument/2006/relationships/slide"/><Relationship Id="rId145" Target="slides/slide140.xml" Type="http://schemas.openxmlformats.org/officeDocument/2006/relationships/slide"/><Relationship Id="rId146" Target="slides/slide141.xml" Type="http://schemas.openxmlformats.org/officeDocument/2006/relationships/slide"/><Relationship Id="rId147" Target="slides/slide142.xml" Type="http://schemas.openxmlformats.org/officeDocument/2006/relationships/slide"/><Relationship Id="rId148" Target="slides/slide143.xml" Type="http://schemas.openxmlformats.org/officeDocument/2006/relationships/slide"/><Relationship Id="rId149" Target="slides/slide144.xml" Type="http://schemas.openxmlformats.org/officeDocument/2006/relationships/slide"/><Relationship Id="rId15" Target="slides/slide10.xml" Type="http://schemas.openxmlformats.org/officeDocument/2006/relationships/slide"/><Relationship Id="rId150" Target="slides/slide145.xml" Type="http://schemas.openxmlformats.org/officeDocument/2006/relationships/slide"/><Relationship Id="rId151" Target="slides/slide146.xml" Type="http://schemas.openxmlformats.org/officeDocument/2006/relationships/slide"/><Relationship Id="rId152" Target="slides/slide147.xml" Type="http://schemas.openxmlformats.org/officeDocument/2006/relationships/slide"/><Relationship Id="rId153" Target="slides/slide148.xml" Type="http://schemas.openxmlformats.org/officeDocument/2006/relationships/slide"/><Relationship Id="rId154" Target="slides/slide149.xml" Type="http://schemas.openxmlformats.org/officeDocument/2006/relationships/slide"/><Relationship Id="rId155" Target="slides/slide150.xml" Type="http://schemas.openxmlformats.org/officeDocument/2006/relationships/slide"/><Relationship Id="rId156" Target="slides/slide151.xml" Type="http://schemas.openxmlformats.org/officeDocument/2006/relationships/slide"/><Relationship Id="rId157" Target="slides/slide152.xml" Type="http://schemas.openxmlformats.org/officeDocument/2006/relationships/slide"/><Relationship Id="rId158" Target="slides/slide153.xml" Type="http://schemas.openxmlformats.org/officeDocument/2006/relationships/slide"/><Relationship Id="rId159" Target="slides/slide154.xml" Type="http://schemas.openxmlformats.org/officeDocument/2006/relationships/slide"/><Relationship Id="rId16" Target="slides/slide11.xml" Type="http://schemas.openxmlformats.org/officeDocument/2006/relationships/slide"/><Relationship Id="rId160" Target="slides/slide155.xml" Type="http://schemas.openxmlformats.org/officeDocument/2006/relationships/slide"/><Relationship Id="rId161" Target="slides/slide156.xml" Type="http://schemas.openxmlformats.org/officeDocument/2006/relationships/slide"/><Relationship Id="rId162" Target="slides/slide157.xml" Type="http://schemas.openxmlformats.org/officeDocument/2006/relationships/slide"/><Relationship Id="rId163" Target="slides/slide158.xml" Type="http://schemas.openxmlformats.org/officeDocument/2006/relationships/slide"/><Relationship Id="rId164" Target="slides/slide159.xml" Type="http://schemas.openxmlformats.org/officeDocument/2006/relationships/slide"/><Relationship Id="rId165" Target="slides/slide160.xml" Type="http://schemas.openxmlformats.org/officeDocument/2006/relationships/slide"/><Relationship Id="rId166" Target="slides/slide161.xml" Type="http://schemas.openxmlformats.org/officeDocument/2006/relationships/slide"/><Relationship Id="rId167" Target="slides/slide162.xml" Type="http://schemas.openxmlformats.org/officeDocument/2006/relationships/slide"/><Relationship Id="rId168" Target="slides/slide163.xml" Type="http://schemas.openxmlformats.org/officeDocument/2006/relationships/slide"/><Relationship Id="rId169" Target="slides/slide164.xml" Type="http://schemas.openxmlformats.org/officeDocument/2006/relationships/slide"/><Relationship Id="rId17" Target="slides/slide12.xml" Type="http://schemas.openxmlformats.org/officeDocument/2006/relationships/slide"/><Relationship Id="rId170" Target="slides/slide165.xml" Type="http://schemas.openxmlformats.org/officeDocument/2006/relationships/slide"/><Relationship Id="rId171" Target="slides/slide166.xml" Type="http://schemas.openxmlformats.org/officeDocument/2006/relationships/slide"/><Relationship Id="rId172" Target="slides/slide167.xml" Type="http://schemas.openxmlformats.org/officeDocument/2006/relationships/slide"/><Relationship Id="rId173" Target="slides/slide168.xml" Type="http://schemas.openxmlformats.org/officeDocument/2006/relationships/slide"/><Relationship Id="rId174" Target="slides/slide169.xml" Type="http://schemas.openxmlformats.org/officeDocument/2006/relationships/slide"/><Relationship Id="rId175" Target="slides/slide170.xml" Type="http://schemas.openxmlformats.org/officeDocument/2006/relationships/slide"/><Relationship Id="rId176" Target="slides/slide171.xml" Type="http://schemas.openxmlformats.org/officeDocument/2006/relationships/slide"/><Relationship Id="rId177" Target="slides/slide172.xml" Type="http://schemas.openxmlformats.org/officeDocument/2006/relationships/slide"/><Relationship Id="rId178" Target="slides/slide173.xml" Type="http://schemas.openxmlformats.org/officeDocument/2006/relationships/slide"/><Relationship Id="rId179" Target="slides/slide174.xml" Type="http://schemas.openxmlformats.org/officeDocument/2006/relationships/slide"/><Relationship Id="rId18" Target="slides/slide13.xml" Type="http://schemas.openxmlformats.org/officeDocument/2006/relationships/slide"/><Relationship Id="rId180" Target="slides/slide175.xml" Type="http://schemas.openxmlformats.org/officeDocument/2006/relationships/slide"/><Relationship Id="rId181" Target="slides/slide176.xml" Type="http://schemas.openxmlformats.org/officeDocument/2006/relationships/slide"/><Relationship Id="rId182" Target="fonts/font182.fntdata" Type="http://schemas.openxmlformats.org/officeDocument/2006/relationships/font"/><Relationship Id="rId183" Target="fonts/font183.fntdata" Type="http://schemas.openxmlformats.org/officeDocument/2006/relationships/font"/><Relationship Id="rId184" Target="fonts/font184.fntdata" Type="http://schemas.openxmlformats.org/officeDocument/2006/relationships/font"/><Relationship Id="rId185" Target="fonts/font185.fntdata" Type="http://schemas.openxmlformats.org/officeDocument/2006/relationships/font"/><Relationship Id="rId186" Target="fonts/font186.fntdata" Type="http://schemas.openxmlformats.org/officeDocument/2006/relationships/font"/><Relationship Id="rId187" Target="fonts/font187.fntdata" Type="http://schemas.openxmlformats.org/officeDocument/2006/relationships/font"/><Relationship Id="rId188" Target="fonts/font188.fntdata" Type="http://schemas.openxmlformats.org/officeDocument/2006/relationships/font"/><Relationship Id="rId189" Target="fonts/font189.fntdata" Type="http://schemas.openxmlformats.org/officeDocument/2006/relationships/font"/><Relationship Id="rId19" Target="slides/slide14.xml" Type="http://schemas.openxmlformats.org/officeDocument/2006/relationships/slide"/><Relationship Id="rId190" Target="fonts/font190.fntdata" Type="http://schemas.openxmlformats.org/officeDocument/2006/relationships/font"/><Relationship Id="rId191" Target="notesMasters/notesMaster1.xml" Type="http://schemas.openxmlformats.org/officeDocument/2006/relationships/notesMaster"/><Relationship Id="rId192" Target="theme/theme2.xml" Type="http://schemas.openxmlformats.org/officeDocument/2006/relationships/theme"/><Relationship Id="rId193" Target="notesSlides/notesSlide1.xml" Type="http://schemas.openxmlformats.org/officeDocument/2006/relationships/notesSlide"/><Relationship Id="rId194" Target="notesSlides/notesSlide2.xml" Type="http://schemas.openxmlformats.org/officeDocument/2006/relationships/notesSlide"/><Relationship Id="rId195" Target="notesSlides/notesSlide3.xml" Type="http://schemas.openxmlformats.org/officeDocument/2006/relationships/notesSlide"/><Relationship Id="rId196" Target="fonts/font196.fntdata" Type="http://schemas.openxmlformats.org/officeDocument/2006/relationships/font"/><Relationship Id="rId197" Target="fonts/font197.fntdata" Type="http://schemas.openxmlformats.org/officeDocument/2006/relationships/font"/><Relationship Id="rId198" Target="fonts/font198.fntdata" Type="http://schemas.openxmlformats.org/officeDocument/2006/relationships/font"/><Relationship Id="rId199" Target="fonts/font199.fntdata" Type="http://schemas.openxmlformats.org/officeDocument/2006/relationships/font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https://drive.google.com/drive/u/0/folders/1CHs_WVn5UJSosyiCbbmiyap2IClmrWKE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jpe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1.png" Type="http://schemas.openxmlformats.org/officeDocument/2006/relationships/image"/><Relationship Id="rId6" Target="https://github.com/class-nithirun/Workshop-Agentic-AI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2.png" Type="http://schemas.openxmlformats.org/officeDocument/2006/relationships/image"/><Relationship Id="rId6" Target="https://www.cloudflare.com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3.png" Type="http://schemas.openxmlformats.org/officeDocument/2006/relationships/image"/><Relationship Id="rId6" Target="https://code.visualstudio.com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4.png" Type="http://schemas.openxmlformats.org/officeDocument/2006/relationships/image"/><Relationship Id="rId6" Target="https://n8n.ubu.ac.th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5.png" Type="http://schemas.openxmlformats.org/officeDocument/2006/relationships/image"/><Relationship Id="rId6" Target="https://n8n.ubu.ac.th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https://cline.bot" TargetMode="External" Type="http://schemas.openxmlformats.org/officeDocument/2006/relationships/hyperlink"/><Relationship Id="rId8" Target="https://aigateway.ubu.ac.th/api/v1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https://kilo.ai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0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3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7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8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1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2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5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7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68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69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1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2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73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74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75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77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78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78.jpe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3.jpeg" Type="http://schemas.openxmlformats.org/officeDocument/2006/relationships/image"/><Relationship Id="rId6" Target="../media/image79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3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4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3.jpeg" Type="http://schemas.openxmlformats.org/officeDocument/2006/relationships/image"/><Relationship Id="rId6" Target="../media/image85.png" Type="http://schemas.openxmlformats.org/officeDocument/2006/relationships/image"/><Relationship Id="rId7" Target="../media/image86.jpe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3.jpeg" Type="http://schemas.openxmlformats.org/officeDocument/2006/relationships/image"/><Relationship Id="rId6" Target="../media/image87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3.jpeg" Type="http://schemas.openxmlformats.org/officeDocument/2006/relationships/image"/><Relationship Id="rId6" Target="../media/image88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0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89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0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90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91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94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5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6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97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98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02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3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97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98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04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05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06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07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08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114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15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16.png" Type="http://schemas.openxmlformats.org/officeDocument/2006/relationships/image"/><Relationship Id="rId7" Target="../media/image117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18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1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22.pn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23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24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25.png" Type="http://schemas.openxmlformats.org/officeDocument/2006/relationships/image"/><Relationship Id="rId7" Target="https://api.telegram.org/bot%3CTELEGRAM_BOT_TOKEN%3E/setWebhook?url=%3CWORKER_URL%3E/telegram/webhook&amp;secret_token=%3CTELEGRAM_WEBHOOK_SECRET%3E" TargetMode="External" Type="http://schemas.openxmlformats.org/officeDocument/2006/relationships/hyperlink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26.png" Type="http://schemas.openxmlformats.org/officeDocument/2006/relationships/image"/><Relationship Id="rId7" Target="../media/image127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28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9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0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1.png" Type="http://schemas.openxmlformats.org/officeDocument/2006/relationships/image"/><Relationship Id="rId6" Target="../media/image132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3.png" Type="http://schemas.openxmlformats.org/officeDocument/2006/relationships/image"/><Relationship Id="rId6" Target="../media/image134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5.png" Type="http://schemas.openxmlformats.org/officeDocument/2006/relationships/image"/><Relationship Id="rId6" Target="../media/image136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7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8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39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0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1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2.png" Type="http://schemas.openxmlformats.org/officeDocument/2006/relationships/image"/><Relationship Id="rId6" Target="https://n8n.io" TargetMode="External" Type="http://schemas.openxmlformats.org/officeDocument/2006/relationships/hyperlink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2.png" Type="http://schemas.openxmlformats.org/officeDocument/2006/relationships/image"/><Relationship Id="rId6" Target="https://n8n.io" TargetMode="External" Type="http://schemas.openxmlformats.org/officeDocument/2006/relationships/hyperlink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3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4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5.png" Type="http://schemas.openxmlformats.org/officeDocument/2006/relationships/image"/><Relationship Id="rId6" Target="../media/image146.pn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6.png" Type="http://schemas.openxmlformats.org/officeDocument/2006/relationships/image"/><Relationship Id="rId6" Target="../media/image147.png" Type="http://schemas.openxmlformats.org/officeDocument/2006/relationships/image"/><Relationship Id="rId7" Target="../media/image148.png" Type="http://schemas.openxmlformats.org/officeDocument/2006/relationships/image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49.png" Type="http://schemas.openxmlformats.org/officeDocument/2006/relationships/image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0.png" Type="http://schemas.openxmlformats.org/officeDocument/2006/relationships/image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1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2.png" Type="http://schemas.openxmlformats.org/officeDocument/2006/relationships/image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3.png" Type="http://schemas.openxmlformats.org/officeDocument/2006/relationships/image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4.png" Type="http://schemas.openxmlformats.org/officeDocument/2006/relationships/image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5.png" Type="http://schemas.openxmlformats.org/officeDocument/2006/relationships/image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6.png" Type="http://schemas.openxmlformats.org/officeDocument/2006/relationships/image"/><Relationship Id="rId6" Target="../media/image157.png" Type="http://schemas.openxmlformats.org/officeDocument/2006/relationships/image"/></Relationships>
</file>

<file path=ppt/slides/_rels/slide1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8.png" Type="http://schemas.openxmlformats.org/officeDocument/2006/relationships/image"/></Relationships>
</file>

<file path=ppt/slides/_rels/slide1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59.png" Type="http://schemas.openxmlformats.org/officeDocument/2006/relationships/image"/></Relationships>
</file>

<file path=ppt/slides/_rels/slide1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1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60.png" Type="http://schemas.openxmlformats.org/officeDocument/2006/relationships/image"/></Relationships>
</file>

<file path=ppt/slides/_rels/slide1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1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2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63.png" Type="http://schemas.openxmlformats.org/officeDocument/2006/relationships/image"/></Relationships>
</file>

<file path=ppt/slides/_rels/slide1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114.png" Type="http://schemas.openxmlformats.org/officeDocument/2006/relationships/image"/><Relationship Id="rId9" Target="https://n8n.ubu.ac.th/rest/oauth2-credential/callback" TargetMode="External" Type="http://schemas.openxmlformats.org/officeDocument/2006/relationships/hyperlink"/></Relationships>
</file>

<file path=ppt/slides/_rels/slide1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4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65.png" Type="http://schemas.openxmlformats.org/officeDocument/2006/relationships/image"/><Relationship Id="rId6" Target="https://web.telegram.org/a/" TargetMode="External" Type="http://schemas.openxmlformats.org/officeDocument/2006/relationships/hyperlink"/></Relationships>
</file>

<file path=ppt/slides/_rels/slide1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66.png" Type="http://schemas.openxmlformats.org/officeDocument/2006/relationships/image"/><Relationship Id="rId6" Target="../media/image167.png" Type="http://schemas.openxmlformats.org/officeDocument/2006/relationships/image"/></Relationships>
</file>

<file path=ppt/slides/_rels/slide1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8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69.png" Type="http://schemas.openxmlformats.org/officeDocument/2006/relationships/image"/><Relationship Id="rId6" Target="../media/image170.png" Type="http://schemas.openxmlformats.org/officeDocument/2006/relationships/image"/></Relationships>
</file>

<file path=ppt/slides/_rels/slide1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71.png" Type="http://schemas.openxmlformats.org/officeDocument/2006/relationships/image"/><Relationship Id="rId6" Target="../media/image172.png" Type="http://schemas.openxmlformats.org/officeDocument/2006/relationships/image"/></Relationships>
</file>

<file path=ppt/slides/_rels/slide1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73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74.png" Type="http://schemas.openxmlformats.org/officeDocument/2006/relationships/image"/><Relationship Id="rId6" Target="../media/image175.png" Type="http://schemas.openxmlformats.org/officeDocument/2006/relationships/image"/></Relationships>
</file>

<file path=ppt/slides/_rels/slide1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76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77.png" Type="http://schemas.openxmlformats.org/officeDocument/2006/relationships/image"/></Relationships>
</file>

<file path=ppt/slides/_rels/slide1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78.png" Type="http://schemas.openxmlformats.org/officeDocument/2006/relationships/image"/><Relationship Id="rId6" Target="../media/image179.png" Type="http://schemas.openxmlformats.org/officeDocument/2006/relationships/image"/><Relationship Id="rId7" Target="https://docs.google.com/document/d/1w7fkNU7xX0mbqFneR-3eTugKs8xmCWqml0VxnM_15kQ/edit?usp=sharing" TargetMode="External" Type="http://schemas.openxmlformats.org/officeDocument/2006/relationships/hyperlink"/></Relationships>
</file>

<file path=ppt/slides/_rels/slide1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0.png" Type="http://schemas.openxmlformats.org/officeDocument/2006/relationships/image"/></Relationships>
</file>

<file path=ppt/slides/_rels/slide1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1.png" Type="http://schemas.openxmlformats.org/officeDocument/2006/relationships/image"/><Relationship Id="rId6" Target="../media/image182.png" Type="http://schemas.openxmlformats.org/officeDocument/2006/relationships/image"/></Relationships>
</file>

<file path=ppt/slides/_rels/slide1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3.png" Type="http://schemas.openxmlformats.org/officeDocument/2006/relationships/image"/><Relationship Id="rId6" Target="../media/image184.png" Type="http://schemas.openxmlformats.org/officeDocument/2006/relationships/image"/></Relationships>
</file>

<file path=ppt/slides/_rels/slide1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5.png" Type="http://schemas.openxmlformats.org/officeDocument/2006/relationships/image"/></Relationships>
</file>

<file path=ppt/slides/_rels/slide1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6.png" Type="http://schemas.openxmlformats.org/officeDocument/2006/relationships/image"/></Relationships>
</file>

<file path=ppt/slides/_rels/slide1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7.png" Type="http://schemas.openxmlformats.org/officeDocument/2006/relationships/image"/><Relationship Id="rId6" Target="../media/image188.png" Type="http://schemas.openxmlformats.org/officeDocument/2006/relationships/image"/></Relationships>
</file>

<file path=ppt/slides/_rels/slide1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89.png" Type="http://schemas.openxmlformats.org/officeDocument/2006/relationships/image"/></Relationships>
</file>

<file path=ppt/slides/_rels/slide1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0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0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91.png" Type="http://schemas.openxmlformats.org/officeDocument/2006/relationships/image"/><Relationship Id="rId6" Target="../media/image192.png" Type="http://schemas.openxmlformats.org/officeDocument/2006/relationships/image"/></Relationships>
</file>

<file path=ppt/slides/_rels/slide1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0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93.png" Type="http://schemas.openxmlformats.org/officeDocument/2006/relationships/image"/><Relationship Id="rId6" Target="../media/image194.png" Type="http://schemas.openxmlformats.org/officeDocument/2006/relationships/image"/></Relationships>
</file>

<file path=ppt/slides/_rels/slide1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95.png" Type="http://schemas.openxmlformats.org/officeDocument/2006/relationships/image"/><Relationship Id="rId6" Target="../media/image196.png" Type="http://schemas.openxmlformats.org/officeDocument/2006/relationships/image"/></Relationships>
</file>

<file path=ppt/slides/_rels/slide1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97.png" Type="http://schemas.openxmlformats.org/officeDocument/2006/relationships/image"/><Relationship Id="rId6" Target="../media/image198.png" Type="http://schemas.openxmlformats.org/officeDocument/2006/relationships/image"/></Relationships>
</file>

<file path=ppt/slides/_rels/slide1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199.png" Type="http://schemas.openxmlformats.org/officeDocument/2006/relationships/image"/><Relationship Id="rId6" Target="../media/image200.png" Type="http://schemas.openxmlformats.org/officeDocument/2006/relationships/image"/></Relationships>
</file>

<file path=ppt/slides/_rels/slide1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1.jpe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01.png" Type="http://schemas.openxmlformats.org/officeDocument/2006/relationships/image"/><Relationship Id="rId6" Target="../media/image202.png" Type="http://schemas.openxmlformats.org/officeDocument/2006/relationships/image"/></Relationships>
</file>

<file path=ppt/slides/_rels/slide1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03.png" Type="http://schemas.openxmlformats.org/officeDocument/2006/relationships/image"/></Relationships>
</file>

<file path=ppt/slides/_rels/slide1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04.png" Type="http://schemas.openxmlformats.org/officeDocument/2006/relationships/image"/></Relationships>
</file>

<file path=ppt/slides/_rels/slide1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jpeg" Type="http://schemas.openxmlformats.org/officeDocument/2006/relationships/image"/><Relationship Id="rId5" Target="../media/image205.png" Type="http://schemas.openxmlformats.org/officeDocument/2006/relationships/image"/></Relationships>
</file>

<file path=ppt/slides/_rels/slide1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206.jpe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1313">
            <a:off x="7944412" y="2305957"/>
            <a:ext cx="1603602" cy="9552208"/>
            <a:chOff x="0" y="0"/>
            <a:chExt cx="422348" cy="251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2348" cy="2544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801313">
            <a:off x="17880564" y="-1225519"/>
            <a:ext cx="1603602" cy="5817991"/>
            <a:chOff x="0" y="0"/>
            <a:chExt cx="422348" cy="153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2348" cy="1532310"/>
            </a:xfrm>
            <a:custGeom>
              <a:avLst/>
              <a:gdLst/>
              <a:ahLst/>
              <a:cxnLst/>
              <a:rect r="r" b="b" t="t" l="l"/>
              <a:pathLst>
                <a:path h="1532310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1532310"/>
                  </a:lnTo>
                  <a:lnTo>
                    <a:pt x="0" y="153231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22348" cy="1560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323218">
            <a:off x="-260294" y="-2499941"/>
            <a:ext cx="9329309" cy="13900928"/>
            <a:chOff x="0" y="0"/>
            <a:chExt cx="640025" cy="953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025" cy="953655"/>
            </a:xfrm>
            <a:custGeom>
              <a:avLst/>
              <a:gdLst/>
              <a:ahLst/>
              <a:cxnLst/>
              <a:rect r="r" b="b" t="t" l="l"/>
              <a:pathLst>
                <a:path h="953655" w="640025">
                  <a:moveTo>
                    <a:pt x="203200" y="0"/>
                  </a:moveTo>
                  <a:lnTo>
                    <a:pt x="640025" y="0"/>
                  </a:lnTo>
                  <a:lnTo>
                    <a:pt x="436825" y="953655"/>
                  </a:lnTo>
                  <a:lnTo>
                    <a:pt x="0" y="9536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28575"/>
              <a:ext cx="436825" cy="98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234808">
            <a:off x="-545671" y="4853273"/>
            <a:ext cx="16230600" cy="770953"/>
          </a:xfrm>
          <a:custGeom>
            <a:avLst/>
            <a:gdLst/>
            <a:ahLst/>
            <a:cxnLst/>
            <a:rect r="r" b="b" t="t" l="l"/>
            <a:pathLst>
              <a:path h="770953" w="16230600">
                <a:moveTo>
                  <a:pt x="0" y="0"/>
                </a:moveTo>
                <a:lnTo>
                  <a:pt x="16230600" y="0"/>
                </a:lnTo>
                <a:lnTo>
                  <a:pt x="16230600" y="770954"/>
                </a:lnTo>
                <a:lnTo>
                  <a:pt x="0" y="77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0" y="-110826"/>
            <a:ext cx="10341615" cy="10508652"/>
            <a:chOff x="0" y="0"/>
            <a:chExt cx="5765800" cy="5858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5800" cy="5858891"/>
            </a:xfrm>
            <a:custGeom>
              <a:avLst/>
              <a:gdLst/>
              <a:ahLst/>
              <a:cxnLst/>
              <a:rect r="r" b="b" t="t" l="l"/>
              <a:pathLst>
                <a:path h="5858891" w="5765800">
                  <a:moveTo>
                    <a:pt x="0" y="0"/>
                  </a:moveTo>
                  <a:lnTo>
                    <a:pt x="0" y="5858891"/>
                  </a:lnTo>
                  <a:lnTo>
                    <a:pt x="5765800" y="5858891"/>
                  </a:lnTo>
                  <a:lnTo>
                    <a:pt x="2235200" y="0"/>
                  </a:lnTo>
                  <a:close/>
                </a:path>
              </a:pathLst>
            </a:custGeom>
            <a:blipFill>
              <a:blip r:embed="rId3"/>
              <a:stretch>
                <a:fillRect l="-26258" t="0" r="-2625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42748" cy="2106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209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075737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61919" y="3338361"/>
            <a:ext cx="4351035" cy="4351035"/>
          </a:xfrm>
          <a:custGeom>
            <a:avLst/>
            <a:gdLst/>
            <a:ahLst/>
            <a:cxnLst/>
            <a:rect r="r" b="b" t="t" l="l"/>
            <a:pathLst>
              <a:path h="4351035" w="4351035">
                <a:moveTo>
                  <a:pt x="0" y="0"/>
                </a:moveTo>
                <a:lnTo>
                  <a:pt x="4351035" y="0"/>
                </a:lnTo>
                <a:lnTo>
                  <a:pt x="4351035" y="4351036"/>
                </a:lnTo>
                <a:lnTo>
                  <a:pt x="0" y="43510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51802" y="2459855"/>
            <a:ext cx="11956538" cy="287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Agentic AI Show &amp; Share </a:t>
            </a:r>
          </a:p>
          <a:p>
            <a:pPr algn="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(Workshop </a:t>
            </a:r>
          </a:p>
          <a:p>
            <a:pPr algn="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Vibecoding </a:t>
            </a:r>
          </a:p>
          <a:p>
            <a:pPr algn="r">
              <a:lnSpc>
                <a:spcPts val="574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n8n session)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64243" y="9058592"/>
            <a:ext cx="643056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u="sng">
                <a:solidFill>
                  <a:srgbClr val="2339C8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drive.google.com/drive/u/0/folders/1CHs_WVn5UJSosyiCbbmiyap2IClmrWKE"/>
              </a:rPr>
              <a:t>URL Google Drive Files, n8n Template and Credential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69230" y="6127615"/>
            <a:ext cx="6820592" cy="301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นิธิรันดร์ นุ่มนนท์</a:t>
            </a:r>
          </a:p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กิตติกร ศรีวิชัย</a:t>
            </a:r>
          </a:p>
          <a:p>
            <a:pPr algn="r">
              <a:lnSpc>
                <a:spcPts val="4760"/>
              </a:lnSpc>
            </a:pPr>
          </a:p>
          <a:p>
            <a:pPr algn="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สถาบันไอเอ็มซี</a:t>
            </a:r>
          </a:p>
          <a:p>
            <a:pPr algn="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กันยายน 2569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1313">
            <a:off x="17880564" y="-1225519"/>
            <a:ext cx="1603602" cy="5817991"/>
            <a:chOff x="0" y="0"/>
            <a:chExt cx="422348" cy="15323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348" cy="1532310"/>
            </a:xfrm>
            <a:custGeom>
              <a:avLst/>
              <a:gdLst/>
              <a:ahLst/>
              <a:cxnLst/>
              <a:rect r="r" b="b" t="t" l="l"/>
              <a:pathLst>
                <a:path h="1532310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1532310"/>
                  </a:lnTo>
                  <a:lnTo>
                    <a:pt x="0" y="153231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2348" cy="1560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42748" cy="2106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2800" cy="209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075737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12370" y="3026887"/>
            <a:ext cx="16395737" cy="616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ผู้เข้าอบรมสมัคร</a:t>
            </a:r>
          </a:p>
          <a:p>
            <a:pPr algn="l" marL="755657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(https://github.com/) </a:t>
            </a:r>
          </a:p>
          <a:p>
            <a:pPr algn="l" marL="755657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(https://accounts.google.com/)</a:t>
            </a:r>
          </a:p>
          <a:p>
            <a:pPr algn="l" marL="755657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(https://dash.cloudflare.com/login)</a:t>
            </a: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ผู้เข้าอบรมติดตั้ง </a:t>
            </a:r>
          </a:p>
          <a:p>
            <a:pPr algn="l" marL="755657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 Studio Code (https://code.visualstudio.com/)</a:t>
            </a:r>
          </a:p>
          <a:p>
            <a:pPr algn="l" marL="755657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 (https://git-scm.com/)</a:t>
            </a:r>
          </a:p>
          <a:p>
            <a:pPr algn="l" marL="755657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Node.js LTS (https://nodejs.org/en/download)</a:t>
            </a: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Link Slide : tinyurl.com/ai-sep8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051735" y="413232"/>
            <a:ext cx="97275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ก่อนเริ่มเรียน</a:t>
            </a:r>
          </a:p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สมัครและติดตั้ง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1058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73000" y="2411485"/>
            <a:ext cx="8827028" cy="2872796"/>
          </a:xfrm>
          <a:custGeom>
            <a:avLst/>
            <a:gdLst/>
            <a:ahLst/>
            <a:cxnLst/>
            <a:rect r="r" b="b" t="t" l="l"/>
            <a:pathLst>
              <a:path h="2872796" w="8827028">
                <a:moveTo>
                  <a:pt x="8827028" y="0"/>
                </a:moveTo>
                <a:lnTo>
                  <a:pt x="0" y="0"/>
                </a:lnTo>
                <a:lnTo>
                  <a:pt x="0" y="2872797"/>
                </a:lnTo>
                <a:lnTo>
                  <a:pt x="8827028" y="2872797"/>
                </a:lnTo>
                <a:lnTo>
                  <a:pt x="88270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868696" y="8007812"/>
            <a:ext cx="10032512" cy="1015551"/>
            <a:chOff x="0" y="0"/>
            <a:chExt cx="4535034" cy="459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5034" cy="459063"/>
            </a:xfrm>
            <a:custGeom>
              <a:avLst/>
              <a:gdLst/>
              <a:ahLst/>
              <a:cxnLst/>
              <a:rect r="r" b="b" t="t" l="l"/>
              <a:pathLst>
                <a:path h="459063" w="4535034">
                  <a:moveTo>
                    <a:pt x="4331834" y="0"/>
                  </a:moveTo>
                  <a:cubicBezTo>
                    <a:pt x="4444058" y="0"/>
                    <a:pt x="4535034" y="102765"/>
                    <a:pt x="4535034" y="229532"/>
                  </a:cubicBezTo>
                  <a:cubicBezTo>
                    <a:pt x="4535034" y="356298"/>
                    <a:pt x="4444058" y="459063"/>
                    <a:pt x="4331834" y="459063"/>
                  </a:cubicBezTo>
                  <a:lnTo>
                    <a:pt x="203200" y="459063"/>
                  </a:lnTo>
                  <a:cubicBezTo>
                    <a:pt x="90976" y="459063"/>
                    <a:pt x="0" y="356298"/>
                    <a:pt x="0" y="229532"/>
                  </a:cubicBezTo>
                  <a:cubicBezTo>
                    <a:pt x="0" y="10276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535034" cy="487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47357" y="1833599"/>
            <a:ext cx="5611943" cy="56119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194" r="0" b="-45899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79047" y="5322382"/>
            <a:ext cx="9614934" cy="185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665" indent="-226833" lvl="1">
              <a:lnSpc>
                <a:spcPts val="2941"/>
              </a:lnSpc>
              <a:buFont typeface="Arial"/>
              <a:buChar char="•"/>
            </a:pP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Software and Data Engineering Manager</a:t>
            </a:r>
          </a:p>
          <a:p>
            <a:pPr algn="l" marL="453665" indent="-226833" lvl="1">
              <a:lnSpc>
                <a:spcPts val="2941"/>
              </a:lnSpc>
              <a:buFont typeface="Arial"/>
              <a:buChar char="•"/>
            </a:pP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ผู้</a:t>
            </a: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เชี่ยวช</a:t>
            </a: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า</a:t>
            </a: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ญด้าน Data Engineer บนระบบ Microsoft Azure, Google Cloud Platform, Apache Spark</a:t>
            </a:r>
          </a:p>
          <a:p>
            <a:pPr algn="l" marL="453665" indent="-226833" lvl="1">
              <a:lnSpc>
                <a:spcPts val="2941"/>
              </a:lnSpc>
              <a:buFont typeface="Arial"/>
              <a:buChar char="•"/>
            </a:pP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วศ.บ. แ</a:t>
            </a: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ละ วศ.ม. วิศวกรรมคอมพิวเตอร์ จุฬาลงกรณ์มหาวิทยาลัย</a:t>
            </a:r>
          </a:p>
          <a:p>
            <a:pPr algn="l">
              <a:lnSpc>
                <a:spcPts val="294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9047" y="812597"/>
            <a:ext cx="722800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แนะนำวิทยากร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2937" y="2802813"/>
            <a:ext cx="737087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นิธิรันดร์ นุ่มนนท์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385212" y="8126924"/>
            <a:ext cx="988485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Email : nithirun</a:t>
            </a: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@imcinstitute.com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1058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73000" y="2411485"/>
            <a:ext cx="8827028" cy="2872796"/>
          </a:xfrm>
          <a:custGeom>
            <a:avLst/>
            <a:gdLst/>
            <a:ahLst/>
            <a:cxnLst/>
            <a:rect r="r" b="b" t="t" l="l"/>
            <a:pathLst>
              <a:path h="2872796" w="8827028">
                <a:moveTo>
                  <a:pt x="8827028" y="0"/>
                </a:moveTo>
                <a:lnTo>
                  <a:pt x="0" y="0"/>
                </a:lnTo>
                <a:lnTo>
                  <a:pt x="0" y="2872797"/>
                </a:lnTo>
                <a:lnTo>
                  <a:pt x="8827028" y="2872797"/>
                </a:lnTo>
                <a:lnTo>
                  <a:pt x="88270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868696" y="8007812"/>
            <a:ext cx="10032512" cy="1015551"/>
            <a:chOff x="0" y="0"/>
            <a:chExt cx="4535034" cy="459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5034" cy="459063"/>
            </a:xfrm>
            <a:custGeom>
              <a:avLst/>
              <a:gdLst/>
              <a:ahLst/>
              <a:cxnLst/>
              <a:rect r="r" b="b" t="t" l="l"/>
              <a:pathLst>
                <a:path h="459063" w="4535034">
                  <a:moveTo>
                    <a:pt x="4331834" y="0"/>
                  </a:moveTo>
                  <a:cubicBezTo>
                    <a:pt x="4444058" y="0"/>
                    <a:pt x="4535034" y="102765"/>
                    <a:pt x="4535034" y="229532"/>
                  </a:cubicBezTo>
                  <a:cubicBezTo>
                    <a:pt x="4535034" y="356298"/>
                    <a:pt x="4444058" y="459063"/>
                    <a:pt x="4331834" y="459063"/>
                  </a:cubicBezTo>
                  <a:lnTo>
                    <a:pt x="203200" y="459063"/>
                  </a:lnTo>
                  <a:cubicBezTo>
                    <a:pt x="90976" y="459063"/>
                    <a:pt x="0" y="356298"/>
                    <a:pt x="0" y="229532"/>
                  </a:cubicBezTo>
                  <a:cubicBezTo>
                    <a:pt x="0" y="10276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535034" cy="487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79047" y="5322382"/>
            <a:ext cx="9614934" cy="14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665" indent="-226833" lvl="1">
              <a:lnSpc>
                <a:spcPts val="2941"/>
              </a:lnSpc>
              <a:buFont typeface="Arial"/>
              <a:buChar char="•"/>
            </a:pP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Data Engineer, IMC Institute</a:t>
            </a:r>
          </a:p>
          <a:p>
            <a:pPr algn="l" marL="453665" indent="-226833" lvl="1">
              <a:lnSpc>
                <a:spcPts val="2941"/>
              </a:lnSpc>
              <a:buFont typeface="Arial"/>
              <a:buChar char="•"/>
            </a:pP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Programming skills (PHP, SQL, C/C++, Python, R)</a:t>
            </a:r>
          </a:p>
          <a:p>
            <a:pPr algn="l" marL="453665" indent="-226833" lvl="1">
              <a:lnSpc>
                <a:spcPts val="2941"/>
              </a:lnSpc>
              <a:buFont typeface="Arial"/>
              <a:buChar char="•"/>
            </a:pP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Database application including</a:t>
            </a:r>
            <a:r>
              <a:rPr lang="en-US" sz="2101">
                <a:solidFill>
                  <a:srgbClr val="003D60"/>
                </a:solidFill>
                <a:latin typeface="Prompt"/>
                <a:ea typeface="Prompt"/>
                <a:cs typeface="Prompt"/>
                <a:sym typeface="Prompt"/>
              </a:rPr>
              <a:t> MySQL, Oracle, MongoDB</a:t>
            </a:r>
          </a:p>
          <a:p>
            <a:pPr algn="l">
              <a:lnSpc>
                <a:spcPts val="294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386314" y="1833599"/>
            <a:ext cx="5611943" cy="561194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5653" t="0" r="-35653" b="0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79047" y="812597"/>
            <a:ext cx="722800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แนะนำวิทยากร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2937" y="2802813"/>
            <a:ext cx="737087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กิตติกร ศรีวิชัย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385212" y="8126924"/>
            <a:ext cx="988485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Email : kittikorn</a:t>
            </a: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@imcinstitute.com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7335" y="756132"/>
            <a:ext cx="97275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Agenda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0300" y="2635370"/>
            <a:ext cx="17209760" cy="1415291"/>
            <a:chOff x="0" y="0"/>
            <a:chExt cx="22946347" cy="188705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26479" cy="1887055"/>
              <a:chOff x="0" y="0"/>
              <a:chExt cx="326479" cy="188705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6891" y="16891"/>
                <a:ext cx="292608" cy="1853184"/>
              </a:xfrm>
              <a:custGeom>
                <a:avLst/>
                <a:gdLst/>
                <a:ahLst/>
                <a:cxnLst/>
                <a:rect r="r" b="b" t="t" l="l"/>
                <a:pathLst>
                  <a:path h="1853184" w="292608">
                    <a:moveTo>
                      <a:pt x="0" y="0"/>
                    </a:moveTo>
                    <a:lnTo>
                      <a:pt x="292608" y="0"/>
                    </a:lnTo>
                    <a:lnTo>
                      <a:pt x="292608" y="1853184"/>
                    </a:lnTo>
                    <a:lnTo>
                      <a:pt x="0" y="1853184"/>
                    </a:lnTo>
                    <a:close/>
                  </a:path>
                </a:pathLst>
              </a:custGeom>
              <a:solidFill>
                <a:srgbClr val="2E86AB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26390" cy="1886966"/>
              </a:xfrm>
              <a:custGeom>
                <a:avLst/>
                <a:gdLst/>
                <a:ahLst/>
                <a:cxnLst/>
                <a:rect r="r" b="b" t="t" l="l"/>
                <a:pathLst>
                  <a:path h="1886966" w="326390">
                    <a:moveTo>
                      <a:pt x="16891" y="0"/>
                    </a:moveTo>
                    <a:lnTo>
                      <a:pt x="309499" y="0"/>
                    </a:lnTo>
                    <a:cubicBezTo>
                      <a:pt x="318897" y="0"/>
                      <a:pt x="326390" y="7620"/>
                      <a:pt x="326390" y="16891"/>
                    </a:cubicBezTo>
                    <a:lnTo>
                      <a:pt x="326390" y="1870075"/>
                    </a:lnTo>
                    <a:cubicBezTo>
                      <a:pt x="326390" y="1879473"/>
                      <a:pt x="318770" y="1886966"/>
                      <a:pt x="309499" y="1886966"/>
                    </a:cubicBezTo>
                    <a:lnTo>
                      <a:pt x="16891" y="1886966"/>
                    </a:lnTo>
                    <a:cubicBezTo>
                      <a:pt x="7493" y="1886966"/>
                      <a:pt x="0" y="1879346"/>
                      <a:pt x="0" y="187007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0075"/>
                    </a:lnTo>
                    <a:lnTo>
                      <a:pt x="16891" y="1870075"/>
                    </a:lnTo>
                    <a:lnTo>
                      <a:pt x="16891" y="1853184"/>
                    </a:lnTo>
                    <a:lnTo>
                      <a:pt x="309499" y="1853184"/>
                    </a:lnTo>
                    <a:lnTo>
                      <a:pt x="309499" y="1870075"/>
                    </a:lnTo>
                    <a:lnTo>
                      <a:pt x="292608" y="1870075"/>
                    </a:lnTo>
                    <a:lnTo>
                      <a:pt x="292608" y="16891"/>
                    </a:lnTo>
                    <a:lnTo>
                      <a:pt x="309499" y="16891"/>
                    </a:lnTo>
                    <a:lnTo>
                      <a:pt x="30949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E86AB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96138" y="8458"/>
              <a:ext cx="22450209" cy="1870113"/>
              <a:chOff x="0" y="0"/>
              <a:chExt cx="22450209" cy="18701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8509" y="8509"/>
                <a:ext cx="22433281" cy="1853184"/>
              </a:xfrm>
              <a:custGeom>
                <a:avLst/>
                <a:gdLst/>
                <a:ahLst/>
                <a:cxnLst/>
                <a:rect r="r" b="b" t="t" l="l"/>
                <a:pathLst>
                  <a:path h="1853184" w="22433281">
                    <a:moveTo>
                      <a:pt x="0" y="0"/>
                    </a:moveTo>
                    <a:lnTo>
                      <a:pt x="22433281" y="0"/>
                    </a:lnTo>
                    <a:lnTo>
                      <a:pt x="22433281" y="1853184"/>
                    </a:lnTo>
                    <a:lnTo>
                      <a:pt x="0" y="185318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2450298" cy="1870202"/>
              </a:xfrm>
              <a:custGeom>
                <a:avLst/>
                <a:gdLst/>
                <a:ahLst/>
                <a:cxnLst/>
                <a:rect r="r" b="b" t="t" l="l"/>
                <a:pathLst>
                  <a:path h="1870202" w="22450298">
                    <a:moveTo>
                      <a:pt x="8509" y="0"/>
                    </a:moveTo>
                    <a:lnTo>
                      <a:pt x="22441790" y="0"/>
                    </a:lnTo>
                    <a:cubicBezTo>
                      <a:pt x="22446489" y="0"/>
                      <a:pt x="22450298" y="3810"/>
                      <a:pt x="22450298" y="8509"/>
                    </a:cubicBezTo>
                    <a:lnTo>
                      <a:pt x="22450298" y="1861693"/>
                    </a:lnTo>
                    <a:cubicBezTo>
                      <a:pt x="22450298" y="1866392"/>
                      <a:pt x="22446489" y="1870202"/>
                      <a:pt x="22441790" y="1870202"/>
                    </a:cubicBezTo>
                    <a:lnTo>
                      <a:pt x="8509" y="1870202"/>
                    </a:lnTo>
                    <a:cubicBezTo>
                      <a:pt x="3810" y="1870202"/>
                      <a:pt x="0" y="1866392"/>
                      <a:pt x="0" y="1861693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1861693"/>
                    </a:lnTo>
                    <a:lnTo>
                      <a:pt x="8509" y="1861693"/>
                    </a:lnTo>
                    <a:lnTo>
                      <a:pt x="8509" y="1853184"/>
                    </a:lnTo>
                    <a:lnTo>
                      <a:pt x="22441790" y="1853184"/>
                    </a:lnTo>
                    <a:lnTo>
                      <a:pt x="22441790" y="1861693"/>
                    </a:lnTo>
                    <a:lnTo>
                      <a:pt x="22433280" y="1861693"/>
                    </a:lnTo>
                    <a:lnTo>
                      <a:pt x="22433280" y="8509"/>
                    </a:lnTo>
                    <a:lnTo>
                      <a:pt x="22441790" y="8509"/>
                    </a:lnTo>
                    <a:lnTo>
                      <a:pt x="22441790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DDDDDD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632960" y="487680"/>
              <a:ext cx="2472271" cy="911695"/>
              <a:chOff x="0" y="0"/>
              <a:chExt cx="2472271" cy="9116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6891" y="16891"/>
                <a:ext cx="2438400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2438400">
                    <a:moveTo>
                      <a:pt x="0" y="0"/>
                    </a:moveTo>
                    <a:lnTo>
                      <a:pt x="2438400" y="0"/>
                    </a:lnTo>
                    <a:lnTo>
                      <a:pt x="2438400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solidFill>
                <a:srgbClr val="2E86AB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72182" cy="911608"/>
              </a:xfrm>
              <a:custGeom>
                <a:avLst/>
                <a:gdLst/>
                <a:ahLst/>
                <a:cxnLst/>
                <a:rect r="r" b="b" t="t" l="l"/>
                <a:pathLst>
                  <a:path h="911608" w="2472182">
                    <a:moveTo>
                      <a:pt x="16891" y="0"/>
                    </a:moveTo>
                    <a:lnTo>
                      <a:pt x="2455291" y="0"/>
                    </a:lnTo>
                    <a:cubicBezTo>
                      <a:pt x="2464689" y="0"/>
                      <a:pt x="2472182" y="7620"/>
                      <a:pt x="2472182" y="16891"/>
                    </a:cubicBezTo>
                    <a:lnTo>
                      <a:pt x="2472182" y="894715"/>
                    </a:lnTo>
                    <a:cubicBezTo>
                      <a:pt x="2472182" y="904113"/>
                      <a:pt x="2464562" y="911606"/>
                      <a:pt x="2455291" y="911606"/>
                    </a:cubicBezTo>
                    <a:lnTo>
                      <a:pt x="16891" y="911606"/>
                    </a:lnTo>
                    <a:cubicBezTo>
                      <a:pt x="7620" y="911733"/>
                      <a:pt x="0" y="904113"/>
                      <a:pt x="0" y="89471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894715"/>
                    </a:lnTo>
                    <a:lnTo>
                      <a:pt x="16891" y="894715"/>
                    </a:lnTo>
                    <a:lnTo>
                      <a:pt x="16891" y="877824"/>
                    </a:lnTo>
                    <a:lnTo>
                      <a:pt x="2455291" y="877824"/>
                    </a:lnTo>
                    <a:lnTo>
                      <a:pt x="2455291" y="894715"/>
                    </a:lnTo>
                    <a:lnTo>
                      <a:pt x="2438400" y="894715"/>
                    </a:lnTo>
                    <a:lnTo>
                      <a:pt x="2438400" y="16891"/>
                    </a:lnTo>
                    <a:lnTo>
                      <a:pt x="2455291" y="16891"/>
                    </a:lnTo>
                    <a:lnTo>
                      <a:pt x="24552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E86AB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649889" y="504609"/>
              <a:ext cx="2438400" cy="877824"/>
              <a:chOff x="0" y="0"/>
              <a:chExt cx="2438400" cy="8778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438400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2438400">
                    <a:moveTo>
                      <a:pt x="0" y="0"/>
                    </a:moveTo>
                    <a:lnTo>
                      <a:pt x="2438400" y="0"/>
                    </a:lnTo>
                    <a:lnTo>
                      <a:pt x="2438400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4125" r="0" b="-4125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2438400" cy="89687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Module 1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332129" y="16929"/>
              <a:ext cx="15118080" cy="1853184"/>
              <a:chOff x="0" y="0"/>
              <a:chExt cx="15118080" cy="18531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118080" cy="1853184"/>
              </a:xfrm>
              <a:custGeom>
                <a:avLst/>
                <a:gdLst/>
                <a:ahLst/>
                <a:cxnLst/>
                <a:rect r="r" b="b" t="t" l="l"/>
                <a:pathLst>
                  <a:path h="1853184" w="15118080">
                    <a:moveTo>
                      <a:pt x="0" y="0"/>
                    </a:moveTo>
                    <a:lnTo>
                      <a:pt x="15118080" y="0"/>
                    </a:lnTo>
                    <a:lnTo>
                      <a:pt x="15118080" y="1853184"/>
                    </a:lnTo>
                    <a:lnTo>
                      <a:pt x="0" y="1853184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08956" r="0" b="-108956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15118080" cy="187223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B3A6B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ก้าวแรกสู่ Vibecoding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7808" y="5908211"/>
            <a:ext cx="17082516" cy="1415291"/>
            <a:chOff x="0" y="0"/>
            <a:chExt cx="22776688" cy="188705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26479" cy="1887055"/>
              <a:chOff x="0" y="0"/>
              <a:chExt cx="326479" cy="188705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292608" cy="1853184"/>
              </a:xfrm>
              <a:custGeom>
                <a:avLst/>
                <a:gdLst/>
                <a:ahLst/>
                <a:cxnLst/>
                <a:rect r="r" b="b" t="t" l="l"/>
                <a:pathLst>
                  <a:path h="1853184" w="292608">
                    <a:moveTo>
                      <a:pt x="0" y="0"/>
                    </a:moveTo>
                    <a:lnTo>
                      <a:pt x="292608" y="0"/>
                    </a:lnTo>
                    <a:lnTo>
                      <a:pt x="292608" y="1853184"/>
                    </a:lnTo>
                    <a:lnTo>
                      <a:pt x="0" y="1853184"/>
                    </a:lnTo>
                    <a:close/>
                  </a:path>
                </a:pathLst>
              </a:custGeom>
              <a:solidFill>
                <a:srgbClr val="E8813A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26390" cy="1886966"/>
              </a:xfrm>
              <a:custGeom>
                <a:avLst/>
                <a:gdLst/>
                <a:ahLst/>
                <a:cxnLst/>
                <a:rect r="r" b="b" t="t" l="l"/>
                <a:pathLst>
                  <a:path h="1886966" w="326390">
                    <a:moveTo>
                      <a:pt x="16891" y="0"/>
                    </a:moveTo>
                    <a:lnTo>
                      <a:pt x="309499" y="0"/>
                    </a:lnTo>
                    <a:cubicBezTo>
                      <a:pt x="318897" y="0"/>
                      <a:pt x="326390" y="7620"/>
                      <a:pt x="326390" y="16891"/>
                    </a:cubicBezTo>
                    <a:lnTo>
                      <a:pt x="326390" y="1870075"/>
                    </a:lnTo>
                    <a:cubicBezTo>
                      <a:pt x="326390" y="1879473"/>
                      <a:pt x="318770" y="1886966"/>
                      <a:pt x="309499" y="1886966"/>
                    </a:cubicBezTo>
                    <a:lnTo>
                      <a:pt x="16891" y="1886966"/>
                    </a:lnTo>
                    <a:cubicBezTo>
                      <a:pt x="7493" y="1886966"/>
                      <a:pt x="0" y="1879346"/>
                      <a:pt x="0" y="187007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0075"/>
                    </a:lnTo>
                    <a:lnTo>
                      <a:pt x="16891" y="1870075"/>
                    </a:lnTo>
                    <a:lnTo>
                      <a:pt x="16891" y="1853184"/>
                    </a:lnTo>
                    <a:lnTo>
                      <a:pt x="309499" y="1853184"/>
                    </a:lnTo>
                    <a:lnTo>
                      <a:pt x="309499" y="1870075"/>
                    </a:lnTo>
                    <a:lnTo>
                      <a:pt x="292608" y="1870075"/>
                    </a:lnTo>
                    <a:lnTo>
                      <a:pt x="292608" y="16891"/>
                    </a:lnTo>
                    <a:lnTo>
                      <a:pt x="309499" y="16891"/>
                    </a:lnTo>
                    <a:lnTo>
                      <a:pt x="30949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8813A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326479" y="8465"/>
              <a:ext cx="22450209" cy="1870113"/>
              <a:chOff x="0" y="0"/>
              <a:chExt cx="22450209" cy="187011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8509" y="8509"/>
                <a:ext cx="22433281" cy="1853184"/>
              </a:xfrm>
              <a:custGeom>
                <a:avLst/>
                <a:gdLst/>
                <a:ahLst/>
                <a:cxnLst/>
                <a:rect r="r" b="b" t="t" l="l"/>
                <a:pathLst>
                  <a:path h="1853184" w="22433281">
                    <a:moveTo>
                      <a:pt x="0" y="0"/>
                    </a:moveTo>
                    <a:lnTo>
                      <a:pt x="22433281" y="0"/>
                    </a:lnTo>
                    <a:lnTo>
                      <a:pt x="22433281" y="1853184"/>
                    </a:lnTo>
                    <a:lnTo>
                      <a:pt x="0" y="185318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2450298" cy="1870202"/>
              </a:xfrm>
              <a:custGeom>
                <a:avLst/>
                <a:gdLst/>
                <a:ahLst/>
                <a:cxnLst/>
                <a:rect r="r" b="b" t="t" l="l"/>
                <a:pathLst>
                  <a:path h="1870202" w="22450298">
                    <a:moveTo>
                      <a:pt x="8509" y="0"/>
                    </a:moveTo>
                    <a:lnTo>
                      <a:pt x="22441790" y="0"/>
                    </a:lnTo>
                    <a:cubicBezTo>
                      <a:pt x="22446489" y="0"/>
                      <a:pt x="22450298" y="3810"/>
                      <a:pt x="22450298" y="8509"/>
                    </a:cubicBezTo>
                    <a:lnTo>
                      <a:pt x="22450298" y="1861693"/>
                    </a:lnTo>
                    <a:cubicBezTo>
                      <a:pt x="22450298" y="1866392"/>
                      <a:pt x="22446489" y="1870202"/>
                      <a:pt x="22441790" y="1870202"/>
                    </a:cubicBezTo>
                    <a:lnTo>
                      <a:pt x="8509" y="1870202"/>
                    </a:lnTo>
                    <a:cubicBezTo>
                      <a:pt x="3810" y="1870202"/>
                      <a:pt x="0" y="1866392"/>
                      <a:pt x="0" y="1861693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1861693"/>
                    </a:lnTo>
                    <a:lnTo>
                      <a:pt x="8509" y="1861693"/>
                    </a:lnTo>
                    <a:lnTo>
                      <a:pt x="8509" y="1853184"/>
                    </a:lnTo>
                    <a:lnTo>
                      <a:pt x="22441790" y="1853184"/>
                    </a:lnTo>
                    <a:lnTo>
                      <a:pt x="22441790" y="1861693"/>
                    </a:lnTo>
                    <a:lnTo>
                      <a:pt x="22433280" y="1861693"/>
                    </a:lnTo>
                    <a:lnTo>
                      <a:pt x="22433280" y="8509"/>
                    </a:lnTo>
                    <a:lnTo>
                      <a:pt x="22441790" y="8509"/>
                    </a:lnTo>
                    <a:lnTo>
                      <a:pt x="22441790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DDDDDD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4632960" y="487680"/>
              <a:ext cx="2472271" cy="911695"/>
              <a:chOff x="0" y="0"/>
              <a:chExt cx="2472271" cy="91169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2438400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2438400">
                    <a:moveTo>
                      <a:pt x="0" y="0"/>
                    </a:moveTo>
                    <a:lnTo>
                      <a:pt x="2438400" y="0"/>
                    </a:lnTo>
                    <a:lnTo>
                      <a:pt x="2438400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solidFill>
                <a:srgbClr val="E8813A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472182" cy="911608"/>
              </a:xfrm>
              <a:custGeom>
                <a:avLst/>
                <a:gdLst/>
                <a:ahLst/>
                <a:cxnLst/>
                <a:rect r="r" b="b" t="t" l="l"/>
                <a:pathLst>
                  <a:path h="911608" w="2472182">
                    <a:moveTo>
                      <a:pt x="16891" y="0"/>
                    </a:moveTo>
                    <a:lnTo>
                      <a:pt x="2455291" y="0"/>
                    </a:lnTo>
                    <a:cubicBezTo>
                      <a:pt x="2464689" y="0"/>
                      <a:pt x="2472182" y="7620"/>
                      <a:pt x="2472182" y="16891"/>
                    </a:cubicBezTo>
                    <a:lnTo>
                      <a:pt x="2472182" y="894715"/>
                    </a:lnTo>
                    <a:cubicBezTo>
                      <a:pt x="2472182" y="904113"/>
                      <a:pt x="2464562" y="911606"/>
                      <a:pt x="2455291" y="911606"/>
                    </a:cubicBezTo>
                    <a:lnTo>
                      <a:pt x="16891" y="911606"/>
                    </a:lnTo>
                    <a:cubicBezTo>
                      <a:pt x="7620" y="911733"/>
                      <a:pt x="0" y="904113"/>
                      <a:pt x="0" y="89471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894715"/>
                    </a:lnTo>
                    <a:lnTo>
                      <a:pt x="16891" y="894715"/>
                    </a:lnTo>
                    <a:lnTo>
                      <a:pt x="16891" y="877824"/>
                    </a:lnTo>
                    <a:lnTo>
                      <a:pt x="2455291" y="877824"/>
                    </a:lnTo>
                    <a:lnTo>
                      <a:pt x="2455291" y="894715"/>
                    </a:lnTo>
                    <a:lnTo>
                      <a:pt x="2438400" y="894715"/>
                    </a:lnTo>
                    <a:lnTo>
                      <a:pt x="2438400" y="16891"/>
                    </a:lnTo>
                    <a:lnTo>
                      <a:pt x="2455291" y="16891"/>
                    </a:lnTo>
                    <a:lnTo>
                      <a:pt x="24552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8813A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649889" y="504609"/>
              <a:ext cx="2438400" cy="877824"/>
              <a:chOff x="0" y="0"/>
              <a:chExt cx="2438400" cy="87782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438400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2438400">
                    <a:moveTo>
                      <a:pt x="0" y="0"/>
                    </a:moveTo>
                    <a:lnTo>
                      <a:pt x="2438400" y="0"/>
                    </a:lnTo>
                    <a:lnTo>
                      <a:pt x="2438400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4125" r="0" b="-4125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2438400" cy="89687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Module 2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7332129" y="16929"/>
              <a:ext cx="15118080" cy="1853184"/>
              <a:chOff x="0" y="0"/>
              <a:chExt cx="15118080" cy="185318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5118080" cy="1853184"/>
              </a:xfrm>
              <a:custGeom>
                <a:avLst/>
                <a:gdLst/>
                <a:ahLst/>
                <a:cxnLst/>
                <a:rect r="r" b="b" t="t" l="l"/>
                <a:pathLst>
                  <a:path h="1853184" w="15118080">
                    <a:moveTo>
                      <a:pt x="0" y="0"/>
                    </a:moveTo>
                    <a:lnTo>
                      <a:pt x="15118080" y="0"/>
                    </a:lnTo>
                    <a:lnTo>
                      <a:pt x="15118080" y="1853184"/>
                    </a:lnTo>
                    <a:lnTo>
                      <a:pt x="0" y="1853184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08956" r="0" b="-108956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15118080" cy="187223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B3A6B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สร้าง</a:t>
                </a:r>
                <a:r>
                  <a:rPr lang="en-US" sz="2600" b="true">
                    <a:solidFill>
                      <a:srgbClr val="1B3A6B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AI Agent ตัวแรก ต่อกับ MCP Server</a:t>
                </a: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6028604" y="4293750"/>
            <a:ext cx="770592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1.1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หน้าต่าง Chat คุยกับ AI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1.2 Deploy Cloudflare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6028604" y="7396414"/>
            <a:ext cx="770592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2.1 MCP server simple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2.2 MCP server ต่อ Google Calendar จริง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2.3 คุยกับผู้ช่วยผ่าน 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elegram Telegram app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37335" y="756132"/>
            <a:ext cx="97275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Agenda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7808" y="3215785"/>
            <a:ext cx="244859" cy="1415291"/>
            <a:chOff x="0" y="0"/>
            <a:chExt cx="326479" cy="18870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92608" cy="1853184"/>
            </a:xfrm>
            <a:custGeom>
              <a:avLst/>
              <a:gdLst/>
              <a:ahLst/>
              <a:cxnLst/>
              <a:rect r="r" b="b" t="t" l="l"/>
              <a:pathLst>
                <a:path h="1853184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390" cy="1886966"/>
            </a:xfrm>
            <a:custGeom>
              <a:avLst/>
              <a:gdLst/>
              <a:ahLst/>
              <a:cxnLst/>
              <a:rect r="r" b="b" t="t" l="l"/>
              <a:pathLst>
                <a:path h="1886966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870075"/>
                  </a:lnTo>
                  <a:cubicBezTo>
                    <a:pt x="326390" y="1879473"/>
                    <a:pt x="318770" y="1886966"/>
                    <a:pt x="309499" y="1886966"/>
                  </a:cubicBezTo>
                  <a:lnTo>
                    <a:pt x="16891" y="1886966"/>
                  </a:lnTo>
                  <a:cubicBezTo>
                    <a:pt x="74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0075"/>
                  </a:lnTo>
                  <a:lnTo>
                    <a:pt x="16891" y="1870075"/>
                  </a:lnTo>
                  <a:lnTo>
                    <a:pt x="16891" y="1853184"/>
                  </a:lnTo>
                  <a:lnTo>
                    <a:pt x="309499" y="1853184"/>
                  </a:lnTo>
                  <a:lnTo>
                    <a:pt x="309499" y="1870075"/>
                  </a:lnTo>
                  <a:lnTo>
                    <a:pt x="292608" y="1870075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9912" y="3222129"/>
            <a:ext cx="16837657" cy="1402585"/>
            <a:chOff x="0" y="0"/>
            <a:chExt cx="22450209" cy="18701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8509" y="8509"/>
              <a:ext cx="22433281" cy="1853184"/>
            </a:xfrm>
            <a:custGeom>
              <a:avLst/>
              <a:gdLst/>
              <a:ahLst/>
              <a:cxnLst/>
              <a:rect r="r" b="b" t="t" l="l"/>
              <a:pathLst>
                <a:path h="1853184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50298" cy="1870202"/>
            </a:xfrm>
            <a:custGeom>
              <a:avLst/>
              <a:gdLst/>
              <a:ahLst/>
              <a:cxnLst/>
              <a:rect r="r" b="b" t="t" l="l"/>
              <a:pathLst>
                <a:path h="1870202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861693"/>
                  </a:lnTo>
                  <a:cubicBezTo>
                    <a:pt x="22450298" y="1866392"/>
                    <a:pt x="22446489" y="1870202"/>
                    <a:pt x="22441790" y="1870202"/>
                  </a:cubicBezTo>
                  <a:lnTo>
                    <a:pt x="8509" y="1870202"/>
                  </a:lnTo>
                  <a:cubicBezTo>
                    <a:pt x="3810" y="1870202"/>
                    <a:pt x="0" y="1866392"/>
                    <a:pt x="0" y="18616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61693"/>
                  </a:lnTo>
                  <a:lnTo>
                    <a:pt x="8509" y="1861693"/>
                  </a:lnTo>
                  <a:lnTo>
                    <a:pt x="8509" y="1853184"/>
                  </a:lnTo>
                  <a:lnTo>
                    <a:pt x="22441790" y="1853184"/>
                  </a:lnTo>
                  <a:lnTo>
                    <a:pt x="22441790" y="1861693"/>
                  </a:lnTo>
                  <a:lnTo>
                    <a:pt x="22433280" y="1861693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022528" y="3581545"/>
            <a:ext cx="1854203" cy="683771"/>
            <a:chOff x="0" y="0"/>
            <a:chExt cx="2472271" cy="9116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2182" cy="911608"/>
            </a:xfrm>
            <a:custGeom>
              <a:avLst/>
              <a:gdLst/>
              <a:ahLst/>
              <a:cxnLst/>
              <a:rect r="r" b="b" t="t" l="l"/>
              <a:pathLst>
                <a:path h="911608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894715"/>
                  </a:lnTo>
                  <a:cubicBezTo>
                    <a:pt x="2472182" y="904113"/>
                    <a:pt x="2464562" y="911606"/>
                    <a:pt x="24552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2455291" y="877824"/>
                  </a:lnTo>
                  <a:lnTo>
                    <a:pt x="2455291" y="894715"/>
                  </a:lnTo>
                  <a:lnTo>
                    <a:pt x="2438400" y="894715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035225" y="3594242"/>
            <a:ext cx="1828800" cy="658368"/>
            <a:chOff x="0" y="0"/>
            <a:chExt cx="2438400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43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Module 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46905" y="3228482"/>
            <a:ext cx="11338560" cy="1389888"/>
            <a:chOff x="0" y="0"/>
            <a:chExt cx="15118080" cy="1853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11808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5118080" cy="1872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รู้จัก n8n: Simple Chatbot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7808" y="4934857"/>
            <a:ext cx="244859" cy="1415291"/>
            <a:chOff x="0" y="0"/>
            <a:chExt cx="326479" cy="18870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292608" cy="1853184"/>
            </a:xfrm>
            <a:custGeom>
              <a:avLst/>
              <a:gdLst/>
              <a:ahLst/>
              <a:cxnLst/>
              <a:rect r="r" b="b" t="t" l="l"/>
              <a:pathLst>
                <a:path h="1853184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E8813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390" cy="1886966"/>
            </a:xfrm>
            <a:custGeom>
              <a:avLst/>
              <a:gdLst/>
              <a:ahLst/>
              <a:cxnLst/>
              <a:rect r="r" b="b" t="t" l="l"/>
              <a:pathLst>
                <a:path h="1886966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870075"/>
                  </a:lnTo>
                  <a:cubicBezTo>
                    <a:pt x="326390" y="1879473"/>
                    <a:pt x="318770" y="1886966"/>
                    <a:pt x="309499" y="1886966"/>
                  </a:cubicBezTo>
                  <a:lnTo>
                    <a:pt x="16891" y="1886966"/>
                  </a:lnTo>
                  <a:cubicBezTo>
                    <a:pt x="74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0075"/>
                  </a:lnTo>
                  <a:lnTo>
                    <a:pt x="16891" y="1870075"/>
                  </a:lnTo>
                  <a:lnTo>
                    <a:pt x="16891" y="1853184"/>
                  </a:lnTo>
                  <a:lnTo>
                    <a:pt x="309499" y="1853184"/>
                  </a:lnTo>
                  <a:lnTo>
                    <a:pt x="309499" y="1870075"/>
                  </a:lnTo>
                  <a:lnTo>
                    <a:pt x="292608" y="1870075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813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9912" y="4941201"/>
            <a:ext cx="16837657" cy="1402585"/>
            <a:chOff x="0" y="0"/>
            <a:chExt cx="22450209" cy="18701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22433281" cy="1853184"/>
            </a:xfrm>
            <a:custGeom>
              <a:avLst/>
              <a:gdLst/>
              <a:ahLst/>
              <a:cxnLst/>
              <a:rect r="r" b="b" t="t" l="l"/>
              <a:pathLst>
                <a:path h="1853184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450298" cy="1870202"/>
            </a:xfrm>
            <a:custGeom>
              <a:avLst/>
              <a:gdLst/>
              <a:ahLst/>
              <a:cxnLst/>
              <a:rect r="r" b="b" t="t" l="l"/>
              <a:pathLst>
                <a:path h="1870202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861693"/>
                  </a:lnTo>
                  <a:cubicBezTo>
                    <a:pt x="22450298" y="1866392"/>
                    <a:pt x="22446489" y="1870202"/>
                    <a:pt x="22441790" y="1870202"/>
                  </a:cubicBezTo>
                  <a:lnTo>
                    <a:pt x="8509" y="1870202"/>
                  </a:lnTo>
                  <a:cubicBezTo>
                    <a:pt x="3810" y="1870202"/>
                    <a:pt x="0" y="1866392"/>
                    <a:pt x="0" y="18616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61693"/>
                  </a:lnTo>
                  <a:lnTo>
                    <a:pt x="8509" y="1861693"/>
                  </a:lnTo>
                  <a:lnTo>
                    <a:pt x="8509" y="1853184"/>
                  </a:lnTo>
                  <a:lnTo>
                    <a:pt x="22441790" y="1853184"/>
                  </a:lnTo>
                  <a:lnTo>
                    <a:pt x="22441790" y="1861693"/>
                  </a:lnTo>
                  <a:lnTo>
                    <a:pt x="22433280" y="1861693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022528" y="5300617"/>
            <a:ext cx="1854203" cy="683771"/>
            <a:chOff x="0" y="0"/>
            <a:chExt cx="2472271" cy="9116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8813A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72182" cy="911608"/>
            </a:xfrm>
            <a:custGeom>
              <a:avLst/>
              <a:gdLst/>
              <a:ahLst/>
              <a:cxnLst/>
              <a:rect r="r" b="b" t="t" l="l"/>
              <a:pathLst>
                <a:path h="911608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894715"/>
                  </a:lnTo>
                  <a:cubicBezTo>
                    <a:pt x="2472182" y="904113"/>
                    <a:pt x="2464562" y="911606"/>
                    <a:pt x="24552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2455291" y="877824"/>
                  </a:lnTo>
                  <a:lnTo>
                    <a:pt x="2455291" y="894715"/>
                  </a:lnTo>
                  <a:lnTo>
                    <a:pt x="2438400" y="894715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813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035225" y="5313314"/>
            <a:ext cx="1828800" cy="658368"/>
            <a:chOff x="0" y="0"/>
            <a:chExt cx="2438400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43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Module 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46905" y="4947554"/>
            <a:ext cx="11338560" cy="1389888"/>
            <a:chOff x="0" y="0"/>
            <a:chExt cx="15118080" cy="18531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11808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118080" cy="1872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</a:t>
              </a:r>
              <a:r>
                <a:rPr lang="en-US" sz="2600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Agent แบบ No-Code: ต่อ Gmail, Calendar และ Telegram ด้วย n8n 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7808" y="6653929"/>
            <a:ext cx="244859" cy="1415291"/>
            <a:chOff x="0" y="0"/>
            <a:chExt cx="326479" cy="188705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292608" cy="1853184"/>
            </a:xfrm>
            <a:custGeom>
              <a:avLst/>
              <a:gdLst/>
              <a:ahLst/>
              <a:cxnLst/>
              <a:rect r="r" b="b" t="t" l="l"/>
              <a:pathLst>
                <a:path h="1853184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6B3FA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6390" cy="1886966"/>
            </a:xfrm>
            <a:custGeom>
              <a:avLst/>
              <a:gdLst/>
              <a:ahLst/>
              <a:cxnLst/>
              <a:rect r="r" b="b" t="t" l="l"/>
              <a:pathLst>
                <a:path h="1886966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870075"/>
                  </a:lnTo>
                  <a:cubicBezTo>
                    <a:pt x="326390" y="1879473"/>
                    <a:pt x="318770" y="1886966"/>
                    <a:pt x="309499" y="1886966"/>
                  </a:cubicBezTo>
                  <a:lnTo>
                    <a:pt x="16891" y="1886966"/>
                  </a:lnTo>
                  <a:cubicBezTo>
                    <a:pt x="74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0075"/>
                  </a:lnTo>
                  <a:lnTo>
                    <a:pt x="16891" y="1870075"/>
                  </a:lnTo>
                  <a:lnTo>
                    <a:pt x="16891" y="1853184"/>
                  </a:lnTo>
                  <a:lnTo>
                    <a:pt x="309499" y="1853184"/>
                  </a:lnTo>
                  <a:lnTo>
                    <a:pt x="309499" y="1870075"/>
                  </a:lnTo>
                  <a:lnTo>
                    <a:pt x="292608" y="1870075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FA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9912" y="6660273"/>
            <a:ext cx="16837657" cy="1402585"/>
            <a:chOff x="0" y="0"/>
            <a:chExt cx="22450209" cy="18701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8509" y="8509"/>
              <a:ext cx="22433281" cy="1853184"/>
            </a:xfrm>
            <a:custGeom>
              <a:avLst/>
              <a:gdLst/>
              <a:ahLst/>
              <a:cxnLst/>
              <a:rect r="r" b="b" t="t" l="l"/>
              <a:pathLst>
                <a:path h="1853184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450298" cy="1870202"/>
            </a:xfrm>
            <a:custGeom>
              <a:avLst/>
              <a:gdLst/>
              <a:ahLst/>
              <a:cxnLst/>
              <a:rect r="r" b="b" t="t" l="l"/>
              <a:pathLst>
                <a:path h="1870202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861693"/>
                  </a:lnTo>
                  <a:cubicBezTo>
                    <a:pt x="22450298" y="1866392"/>
                    <a:pt x="22446489" y="1870202"/>
                    <a:pt x="22441790" y="1870202"/>
                  </a:cubicBezTo>
                  <a:lnTo>
                    <a:pt x="8509" y="1870202"/>
                  </a:lnTo>
                  <a:cubicBezTo>
                    <a:pt x="3810" y="1870202"/>
                    <a:pt x="0" y="1866392"/>
                    <a:pt x="0" y="18616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61693"/>
                  </a:lnTo>
                  <a:lnTo>
                    <a:pt x="8509" y="1861693"/>
                  </a:lnTo>
                  <a:lnTo>
                    <a:pt x="8509" y="1853184"/>
                  </a:lnTo>
                  <a:lnTo>
                    <a:pt x="22441790" y="1853184"/>
                  </a:lnTo>
                  <a:lnTo>
                    <a:pt x="22441790" y="1861693"/>
                  </a:lnTo>
                  <a:lnTo>
                    <a:pt x="22433280" y="1861693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022528" y="7019689"/>
            <a:ext cx="1854203" cy="683771"/>
            <a:chOff x="0" y="0"/>
            <a:chExt cx="2472271" cy="9116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6B3FA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72182" cy="911608"/>
            </a:xfrm>
            <a:custGeom>
              <a:avLst/>
              <a:gdLst/>
              <a:ahLst/>
              <a:cxnLst/>
              <a:rect r="r" b="b" t="t" l="l"/>
              <a:pathLst>
                <a:path h="911608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894715"/>
                  </a:lnTo>
                  <a:cubicBezTo>
                    <a:pt x="2472182" y="904113"/>
                    <a:pt x="2464562" y="911606"/>
                    <a:pt x="24552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2455291" y="877824"/>
                  </a:lnTo>
                  <a:lnTo>
                    <a:pt x="2455291" y="894715"/>
                  </a:lnTo>
                  <a:lnTo>
                    <a:pt x="2438400" y="894715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FA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035225" y="7032386"/>
            <a:ext cx="1828800" cy="658368"/>
            <a:chOff x="0" y="0"/>
            <a:chExt cx="2438400" cy="87782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43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Module 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46905" y="6666626"/>
            <a:ext cx="11338560" cy="1389888"/>
            <a:chOff x="0" y="0"/>
            <a:chExt cx="15118080" cy="1853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11808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5118080" cy="1872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ประกอบร่างระบบ AI </a:t>
              </a:r>
              <a:r>
                <a:rPr lang="en-US" sz="2600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Agent: เชื่อมทุกชิ้นส่วนเข้าด้วยกัน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3058" y="4298326"/>
            <a:ext cx="8324093" cy="23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ที่ใช้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ใน Workshop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6942" y="3225881"/>
            <a:ext cx="5786574" cy="1766277"/>
          </a:xfrm>
          <a:custGeom>
            <a:avLst/>
            <a:gdLst/>
            <a:ahLst/>
            <a:cxnLst/>
            <a:rect r="r" b="b" t="t" l="l"/>
            <a:pathLst>
              <a:path h="1766277" w="5786574">
                <a:moveTo>
                  <a:pt x="0" y="0"/>
                </a:moveTo>
                <a:lnTo>
                  <a:pt x="5786573" y="0"/>
                </a:lnTo>
                <a:lnTo>
                  <a:pt x="5786573" y="1766277"/>
                </a:lnTo>
                <a:lnTo>
                  <a:pt x="0" y="1766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6811" r="0" b="-7889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12419" y="2857098"/>
            <a:ext cx="6618685" cy="2717349"/>
          </a:xfrm>
          <a:custGeom>
            <a:avLst/>
            <a:gdLst/>
            <a:ahLst/>
            <a:cxnLst/>
            <a:rect r="r" b="b" t="t" l="l"/>
            <a:pathLst>
              <a:path h="2717349" w="6618685">
                <a:moveTo>
                  <a:pt x="0" y="0"/>
                </a:moveTo>
                <a:lnTo>
                  <a:pt x="6618685" y="0"/>
                </a:lnTo>
                <a:lnTo>
                  <a:pt x="6618685" y="2717349"/>
                </a:lnTo>
                <a:lnTo>
                  <a:pt x="0" y="27173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785" t="-84140" r="-49900" b="-8670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0275" y="6344708"/>
            <a:ext cx="5911453" cy="1270039"/>
          </a:xfrm>
          <a:custGeom>
            <a:avLst/>
            <a:gdLst/>
            <a:ahLst/>
            <a:cxnLst/>
            <a:rect r="r" b="b" t="t" l="l"/>
            <a:pathLst>
              <a:path h="1270039" w="5911453">
                <a:moveTo>
                  <a:pt x="0" y="0"/>
                </a:moveTo>
                <a:lnTo>
                  <a:pt x="5911453" y="0"/>
                </a:lnTo>
                <a:lnTo>
                  <a:pt x="5911453" y="1270038"/>
                </a:lnTo>
                <a:lnTo>
                  <a:pt x="0" y="127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37660" y="8190855"/>
            <a:ext cx="2311358" cy="1537053"/>
          </a:xfrm>
          <a:custGeom>
            <a:avLst/>
            <a:gdLst/>
            <a:ahLst/>
            <a:cxnLst/>
            <a:rect r="r" b="b" t="t" l="l"/>
            <a:pathLst>
              <a:path h="1537053" w="2311358">
                <a:moveTo>
                  <a:pt x="0" y="0"/>
                </a:moveTo>
                <a:lnTo>
                  <a:pt x="2311358" y="0"/>
                </a:lnTo>
                <a:lnTo>
                  <a:pt x="2311358" y="1537053"/>
                </a:lnTo>
                <a:lnTo>
                  <a:pt x="0" y="15370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86673" y="6058757"/>
            <a:ext cx="1750563" cy="1750563"/>
          </a:xfrm>
          <a:custGeom>
            <a:avLst/>
            <a:gdLst/>
            <a:ahLst/>
            <a:cxnLst/>
            <a:rect r="r" b="b" t="t" l="l"/>
            <a:pathLst>
              <a:path h="1750563" w="1750563">
                <a:moveTo>
                  <a:pt x="0" y="0"/>
                </a:moveTo>
                <a:lnTo>
                  <a:pt x="1750563" y="0"/>
                </a:lnTo>
                <a:lnTo>
                  <a:pt x="1750563" y="1750563"/>
                </a:lnTo>
                <a:lnTo>
                  <a:pt x="0" y="1750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898354" y="5646336"/>
            <a:ext cx="2769501" cy="2769501"/>
          </a:xfrm>
          <a:custGeom>
            <a:avLst/>
            <a:gdLst/>
            <a:ahLst/>
            <a:cxnLst/>
            <a:rect r="r" b="b" t="t" l="l"/>
            <a:pathLst>
              <a:path h="2769501" w="2769501">
                <a:moveTo>
                  <a:pt x="0" y="0"/>
                </a:moveTo>
                <a:lnTo>
                  <a:pt x="2769501" y="0"/>
                </a:lnTo>
                <a:lnTo>
                  <a:pt x="2769501" y="2769501"/>
                </a:lnTo>
                <a:lnTo>
                  <a:pt x="0" y="27695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Generative AI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07805" y="2121998"/>
            <a:ext cx="12080195" cy="6661495"/>
          </a:xfrm>
          <a:custGeom>
            <a:avLst/>
            <a:gdLst/>
            <a:ahLst/>
            <a:cxnLst/>
            <a:rect r="r" b="b" t="t" l="l"/>
            <a:pathLst>
              <a:path h="6661495" w="12080195">
                <a:moveTo>
                  <a:pt x="0" y="0"/>
                </a:moveTo>
                <a:lnTo>
                  <a:pt x="12080195" y="0"/>
                </a:lnTo>
                <a:lnTo>
                  <a:pt x="12080195" y="6661494"/>
                </a:lnTo>
                <a:lnTo>
                  <a:pt x="0" y="6661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634" r="0" b="-363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89734" y="9195070"/>
            <a:ext cx="679207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class-nithirun/Workshop-Agentic-AI"/>
              </a:rPr>
              <a:t>https://github.com/class-nithirun/Workshop-Agentic-AI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5086350"/>
            <a:ext cx="6317853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config --global user.name "ชื่อคุณ"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config --global user.email "email@example.com"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82475" y="2038853"/>
            <a:ext cx="13084230" cy="6869221"/>
          </a:xfrm>
          <a:custGeom>
            <a:avLst/>
            <a:gdLst/>
            <a:ahLst/>
            <a:cxnLst/>
            <a:rect r="r" b="b" t="t" l="l"/>
            <a:pathLst>
              <a:path h="6869221" w="13084230">
                <a:moveTo>
                  <a:pt x="0" y="0"/>
                </a:moveTo>
                <a:lnTo>
                  <a:pt x="13084230" y="0"/>
                </a:lnTo>
                <a:lnTo>
                  <a:pt x="13084230" y="6869221"/>
                </a:lnTo>
                <a:lnTo>
                  <a:pt x="0" y="6869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Cloudfare Worker &amp; 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8147" y="9171104"/>
            <a:ext cx="405288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www.cloudflare.com"/>
              </a:rPr>
              <a:t>Cloudflare: Build for the agent era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41011" y="2263122"/>
            <a:ext cx="11301327" cy="6575960"/>
          </a:xfrm>
          <a:custGeom>
            <a:avLst/>
            <a:gdLst/>
            <a:ahLst/>
            <a:cxnLst/>
            <a:rect r="r" b="b" t="t" l="l"/>
            <a:pathLst>
              <a:path h="6575960" w="11301327">
                <a:moveTo>
                  <a:pt x="0" y="0"/>
                </a:moveTo>
                <a:lnTo>
                  <a:pt x="11301327" y="0"/>
                </a:lnTo>
                <a:lnTo>
                  <a:pt x="11301327" y="6575960"/>
                </a:lnTo>
                <a:lnTo>
                  <a:pt x="0" y="6575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 Studio Code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9855" y="9058592"/>
            <a:ext cx="226828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code.visualstudio.com"/>
              </a:rPr>
              <a:t>Visual Studio Code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85427" y="2260537"/>
            <a:ext cx="13084230" cy="6852866"/>
          </a:xfrm>
          <a:custGeom>
            <a:avLst/>
            <a:gdLst/>
            <a:ahLst/>
            <a:cxnLst/>
            <a:rect r="r" b="b" t="t" l="l"/>
            <a:pathLst>
              <a:path h="6852866" w="13084230">
                <a:moveTo>
                  <a:pt x="0" y="0"/>
                </a:moveTo>
                <a:lnTo>
                  <a:pt x="13084230" y="0"/>
                </a:lnTo>
                <a:lnTo>
                  <a:pt x="13084230" y="6852865"/>
                </a:lnTo>
                <a:lnTo>
                  <a:pt x="0" y="685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n8n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75463" y="9273768"/>
            <a:ext cx="253707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n8n.ubu.ac.th"/>
              </a:rPr>
              <a:t>https://n8n.ubu.ac.th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82475" y="2396454"/>
            <a:ext cx="13084230" cy="6697490"/>
          </a:xfrm>
          <a:custGeom>
            <a:avLst/>
            <a:gdLst/>
            <a:ahLst/>
            <a:cxnLst/>
            <a:rect r="r" b="b" t="t" l="l"/>
            <a:pathLst>
              <a:path h="6697490" w="13084230">
                <a:moveTo>
                  <a:pt x="0" y="0"/>
                </a:moveTo>
                <a:lnTo>
                  <a:pt x="13084230" y="0"/>
                </a:lnTo>
                <a:lnTo>
                  <a:pt x="13084230" y="6697490"/>
                </a:lnTo>
                <a:lnTo>
                  <a:pt x="0" y="6697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n8n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75463" y="9273768"/>
            <a:ext cx="253707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n8n.ubu.ac.th"/>
              </a:rPr>
              <a:t>https://n8n.ubu.ac.th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94613" y="2317404"/>
            <a:ext cx="4669789" cy="6634935"/>
          </a:xfrm>
          <a:custGeom>
            <a:avLst/>
            <a:gdLst/>
            <a:ahLst/>
            <a:cxnLst/>
            <a:rect r="r" b="b" t="t" l="l"/>
            <a:pathLst>
              <a:path h="6634935" w="4669789">
                <a:moveTo>
                  <a:pt x="0" y="0"/>
                </a:moveTo>
                <a:lnTo>
                  <a:pt x="4669789" y="0"/>
                </a:lnTo>
                <a:lnTo>
                  <a:pt x="4669789" y="6634935"/>
                </a:lnTo>
                <a:lnTo>
                  <a:pt x="0" y="6634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7780" y="2342675"/>
            <a:ext cx="11954485" cy="6362484"/>
          </a:xfrm>
          <a:custGeom>
            <a:avLst/>
            <a:gdLst/>
            <a:ahLst/>
            <a:cxnLst/>
            <a:rect r="r" b="b" t="t" l="l"/>
            <a:pathLst>
              <a:path h="6362484" w="11954485">
                <a:moveTo>
                  <a:pt x="0" y="0"/>
                </a:moveTo>
                <a:lnTo>
                  <a:pt x="11954484" y="0"/>
                </a:lnTo>
                <a:lnTo>
                  <a:pt x="11954484" y="6362484"/>
                </a:lnTo>
                <a:lnTo>
                  <a:pt x="0" y="63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246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54090" y="1655166"/>
            <a:ext cx="208552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cline.bot"/>
              </a:rPr>
              <a:t>Cline - AI Coding,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633" y="8983348"/>
            <a:ext cx="9519993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aigateway.ubu.ac.th/api/v1"/>
              </a:rPr>
              <a:t>https://aigateway.ubu.ac.th/api/v1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36481" y="9244333"/>
            <a:ext cx="2525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openai/gpt-5.6-luna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55332" y="2400468"/>
            <a:ext cx="7559822" cy="6501888"/>
          </a:xfrm>
          <a:custGeom>
            <a:avLst/>
            <a:gdLst/>
            <a:ahLst/>
            <a:cxnLst/>
            <a:rect r="r" b="b" t="t" l="l"/>
            <a:pathLst>
              <a:path h="6501888" w="7559822">
                <a:moveTo>
                  <a:pt x="0" y="0"/>
                </a:moveTo>
                <a:lnTo>
                  <a:pt x="7559822" y="0"/>
                </a:lnTo>
                <a:lnTo>
                  <a:pt x="7559822" y="6501888"/>
                </a:lnTo>
                <a:lnTo>
                  <a:pt x="0" y="650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0096" y="2448020"/>
            <a:ext cx="7853497" cy="6018746"/>
          </a:xfrm>
          <a:custGeom>
            <a:avLst/>
            <a:gdLst/>
            <a:ahLst/>
            <a:cxnLst/>
            <a:rect r="r" b="b" t="t" l="l"/>
            <a:pathLst>
              <a:path h="6018746" w="7853497">
                <a:moveTo>
                  <a:pt x="0" y="0"/>
                </a:moveTo>
                <a:lnTo>
                  <a:pt x="7853497" y="0"/>
                </a:lnTo>
                <a:lnTo>
                  <a:pt x="7853497" y="6018746"/>
                </a:lnTo>
                <a:lnTo>
                  <a:pt x="0" y="6018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660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62966" y="9058592"/>
            <a:ext cx="676617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kilo.ai"/>
              </a:rPr>
              <a:t>Kilo – Open Source AI Coding Agent in IDE, CLI and Cloud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7357" t="0" r="389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3058" y="4298326"/>
            <a:ext cx="8324093" cy="112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Vibecoding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Vibecoding Concept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66281" y="3469476"/>
            <a:ext cx="105537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Vibecoding คือแนวทางการสร้างซอฟต์แวร์ผ่านการสนทนา โดยคุณอธิบายผลลัพธ์ที่ต้องการด้วยภาษาธรรมดา แล้วให้ AI ช่วยเขียนโค้ด อธิบาย ทดสอบ และปรับแก้ให้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66281" y="6150774"/>
            <a:ext cx="95250" cy="628650"/>
            <a:chOff x="0" y="0"/>
            <a:chExt cx="127000" cy="838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774700"/>
                  </a:lnTo>
                  <a:cubicBezTo>
                    <a:pt x="127000" y="809770"/>
                    <a:pt x="98570" y="838200"/>
                    <a:pt x="63500" y="838200"/>
                  </a:cubicBezTo>
                  <a:cubicBezTo>
                    <a:pt x="28430" y="838200"/>
                    <a:pt x="0" y="809770"/>
                    <a:pt x="0" y="7747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7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132981" y="6217449"/>
            <a:ext cx="3035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บอกให้ชัดว่าต้องการอะไร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92131" y="6150774"/>
            <a:ext cx="95250" cy="628650"/>
            <a:chOff x="0" y="0"/>
            <a:chExt cx="127000" cy="838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774700"/>
                  </a:lnTo>
                  <a:cubicBezTo>
                    <a:pt x="127000" y="809770"/>
                    <a:pt x="98570" y="838200"/>
                    <a:pt x="63500" y="838200"/>
                  </a:cubicBezTo>
                  <a:cubicBezTo>
                    <a:pt x="28430" y="838200"/>
                    <a:pt x="0" y="809770"/>
                    <a:pt x="0" y="7747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7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758831" y="6217449"/>
            <a:ext cx="3035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ตรวจทานแล้วปรับซ้ำ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17981" y="6150774"/>
            <a:ext cx="95250" cy="628650"/>
            <a:chOff x="0" y="0"/>
            <a:chExt cx="127000" cy="838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774700"/>
                  </a:lnTo>
                  <a:cubicBezTo>
                    <a:pt x="127000" y="809770"/>
                    <a:pt x="98570" y="838200"/>
                    <a:pt x="63500" y="838200"/>
                  </a:cubicBezTo>
                  <a:cubicBezTo>
                    <a:pt x="28430" y="838200"/>
                    <a:pt x="0" y="809770"/>
                    <a:pt x="0" y="7747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7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84681" y="6217449"/>
            <a:ext cx="3035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ให้คนกำกับดูแลเสมอ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Vibecoding Fails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68019" y="2829653"/>
            <a:ext cx="10553700" cy="28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อาการที่เจอบ่อย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สั่งด้วยแชทลอย ๆ AI เดาเอง ผลลัพธ์ไม่เหมือนเดิมทุกครั้ง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session ใหม่ = ลืมสิ่งที่ตกลงกันไว้ทั้งหมด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แก้ไฟล์เกินที่ขอ ไปรื้อของเดิมที่ใช้งานได้อยู่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บอกว่าเสร็จแล้ว ทั้งที่ยังไม่ได้รันจริงสักครั้ง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868019" y="6414298"/>
            <a:ext cx="105537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างแก้ คือเขียนความตั้งใจลงไฟล์ Markdown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ให้ไฟล์ .md เป็นแหล่งความจริงเดียวที่ทั้งคนและ AI อ่านได้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อยู่ใน Git จึงตรวจทานได้ ย้อนได้ และส่งต่อให้ทีมได้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Markdown?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9202" y="3311622"/>
            <a:ext cx="10553700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าษาเขียนเอกสารแบบข้อความล้วน ใช้สัญลักษณ์ไม่กี่ตัวจัดรูปแบบ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เปิดด้วย Notepad ก็อ่านออก ไม่ต้องมี Word หรือโปรแกรมพิเศษ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 .md เป็น text ธรรมดา เก็บใน Git ได้ ดู diff ได้ทีละบรรทัด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ทำไมถึงเหมาะกับการทำงานคู่กับ AI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อ่านโครงสร้างออกทันที ทั้งหัวข้อ รายการ ตาราง และโค้ด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คนก็อ่านง่าย ไม่ต้องแปลงไปมาระหว่างคนกับเครื่อง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แสดงผลให้สวยอัตโนมัติ ไม่ต้องติดตั้งอะไรเพิ่ม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Markdown Syntax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9202" y="3100760"/>
            <a:ext cx="10553700" cy="474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 หัวข้อ     =&gt;   หัวข้อใหญ่  (## คือหัวข้อย่อยลงไป)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 ข้อคว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าม     =&gt;   รายการแบบจุด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ข้อความ     =&gt;   รายการแบบเลขลำดับ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**ข้อความ**     =&gt;   ตัวหนา สำหรับเน้นสิ่งที่ห้ามพลาด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`npm run dev`   =&gt;   โค้ดหรือคำสั่งแทรกในบรรทัด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```     =&gt;   เปิดและปิดบล็อกโค้ดหลายบรรทัด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|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 | b |     =&gt;   ตาราง เหมาะกับรายการไฟล์และหน้าที่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[ชื่อ](URL)     =&gt;   ลิงก์ไปไฟล์อื่นหรือเว็บ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 [ ] งาน     =&gt;   เช็กลิสต์ ใช้กับ Acceptance Criteria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Markdown Files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81404" y="3669476"/>
            <a:ext cx="12120100" cy="379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README.md ทำอะไรได้บ้าง เริ่มยังไง (คนอ่านก่อน AI)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SETUP.md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เตรียมเครื่อง บัญชี และ secret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spec.md จะสร้างอะไร แก้ไฟล์ไหน เสร็จแล้ววัดยังไง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feature.md ฟีเจอร์ไหนทำแล้ว กำลังทำ ยังไม่ทำ และทำไม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skill.md งานซ้ำ ๆ ต้องทำตามขั้นตอนไหน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CLAUDE.md / AGENTS.md กติกาประจำโปรเจกต์ ที่ agent อ่านเอง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เขียนสั้น ตรงประเด็น และอัปเดตทุกครั้งที่ความจริงเปลี่ยน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Anatomy of a spec.md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86835" y="2988945"/>
            <a:ext cx="12120100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บริบท ต่อยอดจากอะไ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 ทำไมต้องมีโมดูลนี้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Prerequisites ต้องทำอะไรมาก่อน ต้องตั้งค่าอะไรไว้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ไฟล์ที่ต้องสร้าง path พร้อมหน้าที่ของแต่ละไฟล์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แก้ไฟล์เดิม ชี้จุดที่แก้ พร้อมโค้ดก่อนและหลัง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ข้อกำหนดสำคัญ กฎที่ห้ามพลาด เช่น เรื่องความปลอดภัย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 เช็กลิสต์ที่พิสูจน์ว่าเสร็จจริง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ห้ามทำเกินสโคป บอกให้ชัดว่าอย่าทำอะไร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แนะนำ ประโยคที่ก๊อปไปสั่ง agent ได้ทันที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Two Critical Sections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14387" y="3199806"/>
            <a:ext cx="10463331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 คือนิยามของคำว่า เสร็จ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ต้องวัดได้จริง ระบุว่ารันคำสั่งอะไร แล้ว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ต้องเห็นอะไร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เช่น npm run typecheck ผ่าน หรือ curl แล้วได้ HTTP 200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ถ้าไม่เขียนไว้ AI จะนิยามคำว่าเสร็จเอง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ห้ามทำเกินสโคป คือนิยามของคำว่า พอ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ระบุสิ่งที่ยังไม่ต้องทำในรอบนี้ให้ชัด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กันไม่ให้ AI ไปรื้อไฟล์ที่ทำงานได้อยู่แล้ว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feature.md &amp; skill.md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77964" y="3154622"/>
            <a:ext cx="9936177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feature.md คือสมุดบันทึกของโปรเจกต์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สถานะของแต่ละฟีเจอร์ ทำแล้ว กำลั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งทำ ยังไม่ทำ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เหตุผลของการตัดสินใจ ว่าทำไมถึงเลือกทางนี้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กัน AI เสนอให้เขียนใหม่ทุกครั้งที่เปิดคุย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skill.md คือขั้นตอนงานซ้ำ ๆ ที่อยากให้ทำเหมือนเดิมทุกครั้ง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เช่น ขั้นตอน deploy เพิ่ม MCP server ตรวจก่อน commit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เขียนเป็นลำดับขั้น พร้อมคำสั่งจริงที่ต้องรัน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626301"/>
            <a:ext cx="6980380" cy="6299568"/>
          </a:xfrm>
          <a:custGeom>
            <a:avLst/>
            <a:gdLst/>
            <a:ahLst/>
            <a:cxnLst/>
            <a:rect r="r" b="b" t="t" l="l"/>
            <a:pathLst>
              <a:path h="6299568" w="6980380">
                <a:moveTo>
                  <a:pt x="0" y="0"/>
                </a:moveTo>
                <a:lnTo>
                  <a:pt x="6980380" y="0"/>
                </a:lnTo>
                <a:lnTo>
                  <a:pt x="6980380" y="6299567"/>
                </a:lnTo>
                <a:lnTo>
                  <a:pt x="0" y="6299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11883" y="3077000"/>
            <a:ext cx="9090630" cy="5258795"/>
          </a:xfrm>
          <a:custGeom>
            <a:avLst/>
            <a:gdLst/>
            <a:ahLst/>
            <a:cxnLst/>
            <a:rect r="r" b="b" t="t" l="l"/>
            <a:pathLst>
              <a:path h="5258795" w="9090630">
                <a:moveTo>
                  <a:pt x="0" y="0"/>
                </a:moveTo>
                <a:lnTo>
                  <a:pt x="9090630" y="0"/>
                </a:lnTo>
                <a:lnTo>
                  <a:pt x="9090630" y="5258795"/>
                </a:lnTo>
                <a:lnTo>
                  <a:pt x="0" y="52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Extension Markdown in VS Code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61676" y="9036527"/>
            <a:ext cx="351442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Markdown Preview Enhanced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9891" y="9036527"/>
            <a:ext cx="243691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Markdown All in One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23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 Up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79496" y="2257936"/>
            <a:ext cx="14333113" cy="6655939"/>
          </a:xfrm>
          <a:custGeom>
            <a:avLst/>
            <a:gdLst/>
            <a:ahLst/>
            <a:cxnLst/>
            <a:rect r="r" b="b" t="t" l="l"/>
            <a:pathLst>
              <a:path h="6655939" w="14333113">
                <a:moveTo>
                  <a:pt x="0" y="0"/>
                </a:moveTo>
                <a:lnTo>
                  <a:pt x="14333113" y="0"/>
                </a:lnTo>
                <a:lnTo>
                  <a:pt x="14333113" y="6655939"/>
                </a:lnTo>
                <a:lnTo>
                  <a:pt x="0" y="6655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94068" y="3112890"/>
            <a:ext cx="12499864" cy="4061221"/>
          </a:xfrm>
          <a:custGeom>
            <a:avLst/>
            <a:gdLst/>
            <a:ahLst/>
            <a:cxnLst/>
            <a:rect r="r" b="b" t="t" l="l"/>
            <a:pathLst>
              <a:path h="4061221" w="12499864">
                <a:moveTo>
                  <a:pt x="0" y="0"/>
                </a:moveTo>
                <a:lnTo>
                  <a:pt x="12499864" y="0"/>
                </a:lnTo>
                <a:lnTo>
                  <a:pt x="12499864" y="4061220"/>
                </a:lnTo>
                <a:lnTo>
                  <a:pt x="0" y="4061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74334" y="3108534"/>
            <a:ext cx="8707631" cy="5433092"/>
          </a:xfrm>
          <a:custGeom>
            <a:avLst/>
            <a:gdLst/>
            <a:ahLst/>
            <a:cxnLst/>
            <a:rect r="r" b="b" t="t" l="l"/>
            <a:pathLst>
              <a:path h="5433092" w="8707631">
                <a:moveTo>
                  <a:pt x="0" y="0"/>
                </a:moveTo>
                <a:lnTo>
                  <a:pt x="8707631" y="0"/>
                </a:lnTo>
                <a:lnTo>
                  <a:pt x="8707631" y="5433092"/>
                </a:lnTo>
                <a:lnTo>
                  <a:pt x="0" y="54330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95259" y="2087269"/>
            <a:ext cx="8719392" cy="6683087"/>
          </a:xfrm>
          <a:custGeom>
            <a:avLst/>
            <a:gdLst/>
            <a:ahLst/>
            <a:cxnLst/>
            <a:rect r="r" b="b" t="t" l="l"/>
            <a:pathLst>
              <a:path h="6683087" w="8719392">
                <a:moveTo>
                  <a:pt x="0" y="0"/>
                </a:moveTo>
                <a:lnTo>
                  <a:pt x="8719392" y="0"/>
                </a:lnTo>
                <a:lnTo>
                  <a:pt x="8719392" y="6683087"/>
                </a:lnTo>
                <a:lnTo>
                  <a:pt x="0" y="6683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SETUP.md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79523" y="2372068"/>
            <a:ext cx="13084230" cy="6280430"/>
          </a:xfrm>
          <a:custGeom>
            <a:avLst/>
            <a:gdLst/>
            <a:ahLst/>
            <a:cxnLst/>
            <a:rect r="r" b="b" t="t" l="l"/>
            <a:pathLst>
              <a:path h="6280430" w="13084230">
                <a:moveTo>
                  <a:pt x="0" y="0"/>
                </a:moveTo>
                <a:lnTo>
                  <a:pt x="13084231" y="0"/>
                </a:lnTo>
                <a:lnTo>
                  <a:pt x="13084231" y="6280430"/>
                </a:lnTo>
                <a:lnTo>
                  <a:pt x="0" y="6280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Worker &amp; Pages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43656" y="2316844"/>
            <a:ext cx="13084230" cy="6468516"/>
          </a:xfrm>
          <a:custGeom>
            <a:avLst/>
            <a:gdLst/>
            <a:ahLst/>
            <a:cxnLst/>
            <a:rect r="r" b="b" t="t" l="l"/>
            <a:pathLst>
              <a:path h="6468516" w="13084230">
                <a:moveTo>
                  <a:pt x="0" y="0"/>
                </a:moveTo>
                <a:lnTo>
                  <a:pt x="13084230" y="0"/>
                </a:lnTo>
                <a:lnTo>
                  <a:pt x="13084230" y="6468516"/>
                </a:lnTo>
                <a:lnTo>
                  <a:pt x="0" y="6468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Worker &amp; Pages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63066" y="2705331"/>
            <a:ext cx="13084230" cy="5536265"/>
          </a:xfrm>
          <a:custGeom>
            <a:avLst/>
            <a:gdLst/>
            <a:ahLst/>
            <a:cxnLst/>
            <a:rect r="r" b="b" t="t" l="l"/>
            <a:pathLst>
              <a:path h="5536265" w="13084230">
                <a:moveTo>
                  <a:pt x="0" y="0"/>
                </a:moveTo>
                <a:lnTo>
                  <a:pt x="13084230" y="0"/>
                </a:lnTo>
                <a:lnTo>
                  <a:pt x="13084230" y="5536265"/>
                </a:lnTo>
                <a:lnTo>
                  <a:pt x="0" y="5536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Worker &amp; Pages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1885" y="2269058"/>
            <a:ext cx="13084230" cy="5748884"/>
          </a:xfrm>
          <a:custGeom>
            <a:avLst/>
            <a:gdLst/>
            <a:ahLst/>
            <a:cxnLst/>
            <a:rect r="r" b="b" t="t" l="l"/>
            <a:pathLst>
              <a:path h="5748884" w="13084230">
                <a:moveTo>
                  <a:pt x="0" y="0"/>
                </a:moveTo>
                <a:lnTo>
                  <a:pt x="13084230" y="0"/>
                </a:lnTo>
                <a:lnTo>
                  <a:pt x="13084230" y="5748884"/>
                </a:lnTo>
                <a:lnTo>
                  <a:pt x="0" y="5748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Worker &amp; Pages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17274" y="2228983"/>
            <a:ext cx="13084230" cy="6713846"/>
          </a:xfrm>
          <a:custGeom>
            <a:avLst/>
            <a:gdLst/>
            <a:ahLst/>
            <a:cxnLst/>
            <a:rect r="r" b="b" t="t" l="l"/>
            <a:pathLst>
              <a:path h="6713846" w="13084230">
                <a:moveTo>
                  <a:pt x="0" y="0"/>
                </a:moveTo>
                <a:lnTo>
                  <a:pt x="13084230" y="0"/>
                </a:lnTo>
                <a:lnTo>
                  <a:pt x="13084230" y="6713845"/>
                </a:lnTo>
                <a:lnTo>
                  <a:pt x="0" y="67138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KV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4175" y="9188481"/>
            <a:ext cx="525899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npx wrangler kv namespace create APP_KV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6942" y="2428305"/>
            <a:ext cx="7545807" cy="5453757"/>
          </a:xfrm>
          <a:custGeom>
            <a:avLst/>
            <a:gdLst/>
            <a:ahLst/>
            <a:cxnLst/>
            <a:rect r="r" b="b" t="t" l="l"/>
            <a:pathLst>
              <a:path h="5453757" w="7545807">
                <a:moveTo>
                  <a:pt x="0" y="0"/>
                </a:moveTo>
                <a:lnTo>
                  <a:pt x="7545806" y="0"/>
                </a:lnTo>
                <a:lnTo>
                  <a:pt x="7545806" y="5453757"/>
                </a:lnTo>
                <a:lnTo>
                  <a:pt x="0" y="54537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75363" y="2697767"/>
            <a:ext cx="3967522" cy="4891466"/>
          </a:xfrm>
          <a:custGeom>
            <a:avLst/>
            <a:gdLst/>
            <a:ahLst/>
            <a:cxnLst/>
            <a:rect r="r" b="b" t="t" l="l"/>
            <a:pathLst>
              <a:path h="4891466" w="3967522">
                <a:moveTo>
                  <a:pt x="0" y="0"/>
                </a:moveTo>
                <a:lnTo>
                  <a:pt x="3967523" y="0"/>
                </a:lnTo>
                <a:lnTo>
                  <a:pt x="3967523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KV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9578" y="2184382"/>
            <a:ext cx="12287637" cy="5696325"/>
          </a:xfrm>
          <a:custGeom>
            <a:avLst/>
            <a:gdLst/>
            <a:ahLst/>
            <a:cxnLst/>
            <a:rect r="r" b="b" t="t" l="l"/>
            <a:pathLst>
              <a:path h="5696325" w="12287637">
                <a:moveTo>
                  <a:pt x="0" y="0"/>
                </a:moveTo>
                <a:lnTo>
                  <a:pt x="12287637" y="0"/>
                </a:lnTo>
                <a:lnTo>
                  <a:pt x="12287637" y="5696326"/>
                </a:lnTo>
                <a:lnTo>
                  <a:pt x="0" y="5696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37448" y="4633477"/>
            <a:ext cx="10599533" cy="4570604"/>
          </a:xfrm>
          <a:custGeom>
            <a:avLst/>
            <a:gdLst/>
            <a:ahLst/>
            <a:cxnLst/>
            <a:rect r="r" b="b" t="t" l="l"/>
            <a:pathLst>
              <a:path h="4570604" w="10599533">
                <a:moveTo>
                  <a:pt x="0" y="0"/>
                </a:moveTo>
                <a:lnTo>
                  <a:pt x="10599533" y="0"/>
                </a:lnTo>
                <a:lnTo>
                  <a:pt x="10599533" y="4570604"/>
                </a:lnTo>
                <a:lnTo>
                  <a:pt x="0" y="45706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844" y="8213296"/>
            <a:ext cx="7382604" cy="1620253"/>
          </a:xfrm>
          <a:custGeom>
            <a:avLst/>
            <a:gdLst/>
            <a:ahLst/>
            <a:cxnLst/>
            <a:rect r="r" b="b" t="t" l="l"/>
            <a:pathLst>
              <a:path h="1620253" w="7382604">
                <a:moveTo>
                  <a:pt x="0" y="0"/>
                </a:moveTo>
                <a:lnTo>
                  <a:pt x="7382604" y="0"/>
                </a:lnTo>
                <a:lnTo>
                  <a:pt x="7382604" y="1620253"/>
                </a:lnTo>
                <a:lnTo>
                  <a:pt x="0" y="1620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Cloudflare : Secret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9976" y="7844472"/>
            <a:ext cx="461769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npx wrangler secret put ADMIN_TOKEN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2298" y="2926264"/>
            <a:ext cx="7792079" cy="2944565"/>
          </a:xfrm>
          <a:custGeom>
            <a:avLst/>
            <a:gdLst/>
            <a:ahLst/>
            <a:cxnLst/>
            <a:rect r="r" b="b" t="t" l="l"/>
            <a:pathLst>
              <a:path h="2944565" w="7792079">
                <a:moveTo>
                  <a:pt x="0" y="0"/>
                </a:moveTo>
                <a:lnTo>
                  <a:pt x="7792079" y="0"/>
                </a:lnTo>
                <a:lnTo>
                  <a:pt x="7792079" y="2944564"/>
                </a:lnTo>
                <a:lnTo>
                  <a:pt x="0" y="2944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15129" y="4398546"/>
            <a:ext cx="11966806" cy="4131673"/>
          </a:xfrm>
          <a:custGeom>
            <a:avLst/>
            <a:gdLst/>
            <a:ahLst/>
            <a:cxnLst/>
            <a:rect r="r" b="b" t="t" l="l"/>
            <a:pathLst>
              <a:path h="4131673" w="11966806">
                <a:moveTo>
                  <a:pt x="0" y="0"/>
                </a:moveTo>
                <a:lnTo>
                  <a:pt x="11966807" y="0"/>
                </a:lnTo>
                <a:lnTo>
                  <a:pt x="11966807" y="4131673"/>
                </a:lnTo>
                <a:lnTo>
                  <a:pt x="0" y="4131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Try build Local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4084" y="3295319"/>
            <a:ext cx="160615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npm run dev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82659" y="6060478"/>
            <a:ext cx="12485358" cy="3682089"/>
          </a:xfrm>
          <a:custGeom>
            <a:avLst/>
            <a:gdLst/>
            <a:ahLst/>
            <a:cxnLst/>
            <a:rect r="r" b="b" t="t" l="l"/>
            <a:pathLst>
              <a:path h="3682089" w="12485358">
                <a:moveTo>
                  <a:pt x="0" y="0"/>
                </a:moveTo>
                <a:lnTo>
                  <a:pt x="12485358" y="0"/>
                </a:lnTo>
                <a:lnTo>
                  <a:pt x="12485358" y="3682089"/>
                </a:lnTo>
                <a:lnTo>
                  <a:pt x="0" y="3682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1692" y="2141557"/>
            <a:ext cx="8503819" cy="3618939"/>
          </a:xfrm>
          <a:custGeom>
            <a:avLst/>
            <a:gdLst/>
            <a:ahLst/>
            <a:cxnLst/>
            <a:rect r="r" b="b" t="t" l="l"/>
            <a:pathLst>
              <a:path h="3618939" w="8503819">
                <a:moveTo>
                  <a:pt x="0" y="0"/>
                </a:moveTo>
                <a:lnTo>
                  <a:pt x="8503820" y="0"/>
                </a:lnTo>
                <a:lnTo>
                  <a:pt x="8503820" y="3618939"/>
                </a:lnTo>
                <a:lnTo>
                  <a:pt x="0" y="3618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Try deploy Cloudflare: Command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7591" y="3295319"/>
            <a:ext cx="191913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npm run deploy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4384" y="2758641"/>
            <a:ext cx="5765402" cy="5654529"/>
          </a:xfrm>
          <a:custGeom>
            <a:avLst/>
            <a:gdLst/>
            <a:ahLst/>
            <a:cxnLst/>
            <a:rect r="r" b="b" t="t" l="l"/>
            <a:pathLst>
              <a:path h="5654529" w="5765402">
                <a:moveTo>
                  <a:pt x="0" y="0"/>
                </a:moveTo>
                <a:lnTo>
                  <a:pt x="5765402" y="0"/>
                </a:lnTo>
                <a:lnTo>
                  <a:pt x="5765402" y="5654529"/>
                </a:lnTo>
                <a:lnTo>
                  <a:pt x="0" y="5654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63322" y="3060134"/>
            <a:ext cx="12220979" cy="4166731"/>
          </a:xfrm>
          <a:custGeom>
            <a:avLst/>
            <a:gdLst/>
            <a:ahLst/>
            <a:cxnLst/>
            <a:rect r="r" b="b" t="t" l="l"/>
            <a:pathLst>
              <a:path h="4166731" w="12220979">
                <a:moveTo>
                  <a:pt x="0" y="0"/>
                </a:moveTo>
                <a:lnTo>
                  <a:pt x="12220979" y="0"/>
                </a:lnTo>
                <a:lnTo>
                  <a:pt x="12220979" y="4166732"/>
                </a:lnTo>
                <a:lnTo>
                  <a:pt x="0" y="41667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Try deploy Cloudflare: Github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93316" y="2333448"/>
            <a:ext cx="12905472" cy="6504915"/>
          </a:xfrm>
          <a:custGeom>
            <a:avLst/>
            <a:gdLst/>
            <a:ahLst/>
            <a:cxnLst/>
            <a:rect r="r" b="b" t="t" l="l"/>
            <a:pathLst>
              <a:path h="6504915" w="12905472">
                <a:moveTo>
                  <a:pt x="0" y="0"/>
                </a:moveTo>
                <a:lnTo>
                  <a:pt x="12905472" y="0"/>
                </a:lnTo>
                <a:lnTo>
                  <a:pt x="12905472" y="6504915"/>
                </a:lnTo>
                <a:lnTo>
                  <a:pt x="0" y="6504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Install Cline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05615" y="2259883"/>
            <a:ext cx="3480875" cy="7184058"/>
          </a:xfrm>
          <a:custGeom>
            <a:avLst/>
            <a:gdLst/>
            <a:ahLst/>
            <a:cxnLst/>
            <a:rect r="r" b="b" t="t" l="l"/>
            <a:pathLst>
              <a:path h="7184058" w="3480875">
                <a:moveTo>
                  <a:pt x="0" y="0"/>
                </a:moveTo>
                <a:lnTo>
                  <a:pt x="3480875" y="0"/>
                </a:lnTo>
                <a:lnTo>
                  <a:pt x="3480875" y="7184057"/>
                </a:lnTo>
                <a:lnTo>
                  <a:pt x="0" y="718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Setting Cline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52399" y="2378959"/>
            <a:ext cx="12383201" cy="6734005"/>
          </a:xfrm>
          <a:custGeom>
            <a:avLst/>
            <a:gdLst/>
            <a:ahLst/>
            <a:cxnLst/>
            <a:rect r="r" b="b" t="t" l="l"/>
            <a:pathLst>
              <a:path h="6734005" w="12383201">
                <a:moveTo>
                  <a:pt x="0" y="0"/>
                </a:moveTo>
                <a:lnTo>
                  <a:pt x="12383202" y="0"/>
                </a:lnTo>
                <a:lnTo>
                  <a:pt x="12383202" y="6734005"/>
                </a:lnTo>
                <a:lnTo>
                  <a:pt x="0" y="6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Setting Cline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112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1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24910" y="2395305"/>
            <a:ext cx="11784568" cy="6130418"/>
          </a:xfrm>
          <a:custGeom>
            <a:avLst/>
            <a:gdLst/>
            <a:ahLst/>
            <a:cxnLst/>
            <a:rect r="r" b="b" t="t" l="l"/>
            <a:pathLst>
              <a:path h="6130418" w="11784568">
                <a:moveTo>
                  <a:pt x="0" y="0"/>
                </a:moveTo>
                <a:lnTo>
                  <a:pt x="11784569" y="0"/>
                </a:lnTo>
                <a:lnTo>
                  <a:pt x="11784569" y="6130418"/>
                </a:lnTo>
                <a:lnTo>
                  <a:pt x="0" y="6130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Module 1.1 : Chat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7238" y="2215655"/>
            <a:ext cx="9866019" cy="6616524"/>
          </a:xfrm>
          <a:custGeom>
            <a:avLst/>
            <a:gdLst/>
            <a:ahLst/>
            <a:cxnLst/>
            <a:rect r="r" b="b" t="t" l="l"/>
            <a:pathLst>
              <a:path h="6616524" w="9866019">
                <a:moveTo>
                  <a:pt x="0" y="0"/>
                </a:moveTo>
                <a:lnTo>
                  <a:pt x="9866019" y="0"/>
                </a:lnTo>
                <a:lnTo>
                  <a:pt x="9866019" y="6616524"/>
                </a:lnTo>
                <a:lnTo>
                  <a:pt x="0" y="6616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29410" y="2392476"/>
            <a:ext cx="4898110" cy="6262882"/>
          </a:xfrm>
          <a:custGeom>
            <a:avLst/>
            <a:gdLst/>
            <a:ahLst/>
            <a:cxnLst/>
            <a:rect r="r" b="b" t="t" l="l"/>
            <a:pathLst>
              <a:path h="6262882" w="4898110">
                <a:moveTo>
                  <a:pt x="0" y="0"/>
                </a:moveTo>
                <a:lnTo>
                  <a:pt x="4898110" y="0"/>
                </a:lnTo>
                <a:lnTo>
                  <a:pt x="4898110" y="6262882"/>
                </a:lnTo>
                <a:lnTo>
                  <a:pt x="0" y="62628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Module 1.1 : Chat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0755" y="2954815"/>
            <a:ext cx="17057091" cy="4797307"/>
          </a:xfrm>
          <a:custGeom>
            <a:avLst/>
            <a:gdLst/>
            <a:ahLst/>
            <a:cxnLst/>
            <a:rect r="r" b="b" t="t" l="l"/>
            <a:pathLst>
              <a:path h="4797307" w="17057091">
                <a:moveTo>
                  <a:pt x="0" y="0"/>
                </a:moveTo>
                <a:lnTo>
                  <a:pt x="17057091" y="0"/>
                </a:lnTo>
                <a:lnTo>
                  <a:pt x="17057091" y="4797307"/>
                </a:lnTo>
                <a:lnTo>
                  <a:pt x="0" y="4797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1.1 : Chat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12677" y="2185770"/>
            <a:ext cx="66675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/chat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69059" y="2076964"/>
            <a:ext cx="12727972" cy="7017883"/>
          </a:xfrm>
          <a:custGeom>
            <a:avLst/>
            <a:gdLst/>
            <a:ahLst/>
            <a:cxnLst/>
            <a:rect r="r" b="b" t="t" l="l"/>
            <a:pathLst>
              <a:path h="7017883" w="12727972">
                <a:moveTo>
                  <a:pt x="0" y="0"/>
                </a:moveTo>
                <a:lnTo>
                  <a:pt x="12727972" y="0"/>
                </a:lnTo>
                <a:lnTo>
                  <a:pt x="12727972" y="7017883"/>
                </a:lnTo>
                <a:lnTo>
                  <a:pt x="0" y="7017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Improve Module 1.1 : Chat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01566" y="1980057"/>
            <a:ext cx="9179231" cy="7563170"/>
          </a:xfrm>
          <a:custGeom>
            <a:avLst/>
            <a:gdLst/>
            <a:ahLst/>
            <a:cxnLst/>
            <a:rect r="r" b="b" t="t" l="l"/>
            <a:pathLst>
              <a:path h="7563170" w="9179231">
                <a:moveTo>
                  <a:pt x="0" y="0"/>
                </a:moveTo>
                <a:lnTo>
                  <a:pt x="9179232" y="0"/>
                </a:lnTo>
                <a:lnTo>
                  <a:pt x="9179232" y="7563170"/>
                </a:lnTo>
                <a:lnTo>
                  <a:pt x="0" y="7563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Module 1.2 : Key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14507" y="3147533"/>
            <a:ext cx="7954089" cy="5577005"/>
          </a:xfrm>
          <a:custGeom>
            <a:avLst/>
            <a:gdLst/>
            <a:ahLst/>
            <a:cxnLst/>
            <a:rect r="r" b="b" t="t" l="l"/>
            <a:pathLst>
              <a:path h="5577005" w="7954089">
                <a:moveTo>
                  <a:pt x="0" y="0"/>
                </a:moveTo>
                <a:lnTo>
                  <a:pt x="7954090" y="0"/>
                </a:lnTo>
                <a:lnTo>
                  <a:pt x="7954090" y="5577005"/>
                </a:lnTo>
                <a:lnTo>
                  <a:pt x="0" y="55770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1.2 : Key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77342" y="2185770"/>
            <a:ext cx="173742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/settings-keys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27891" y="2382963"/>
            <a:ext cx="9036322" cy="6405886"/>
          </a:xfrm>
          <a:custGeom>
            <a:avLst/>
            <a:gdLst/>
            <a:ahLst/>
            <a:cxnLst/>
            <a:rect r="r" b="b" t="t" l="l"/>
            <a:pathLst>
              <a:path h="6405886" w="9036322">
                <a:moveTo>
                  <a:pt x="0" y="0"/>
                </a:moveTo>
                <a:lnTo>
                  <a:pt x="9036322" y="0"/>
                </a:lnTo>
                <a:lnTo>
                  <a:pt x="9036322" y="6405886"/>
                </a:lnTo>
                <a:lnTo>
                  <a:pt x="0" y="6405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Module 1.3 : MCP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89314" y="2899510"/>
            <a:ext cx="8298510" cy="6018593"/>
          </a:xfrm>
          <a:custGeom>
            <a:avLst/>
            <a:gdLst/>
            <a:ahLst/>
            <a:cxnLst/>
            <a:rect r="r" b="b" t="t" l="l"/>
            <a:pathLst>
              <a:path h="6018593" w="8298510">
                <a:moveTo>
                  <a:pt x="0" y="0"/>
                </a:moveTo>
                <a:lnTo>
                  <a:pt x="8298510" y="0"/>
                </a:lnTo>
                <a:lnTo>
                  <a:pt x="8298510" y="6018593"/>
                </a:lnTo>
                <a:lnTo>
                  <a:pt x="0" y="6018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1.3 : MCP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66106" y="2185770"/>
            <a:ext cx="175989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/settings-mcp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37211"/>
            <a:ext cx="8324093" cy="112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Agentic AI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6291" t="0" r="26291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42077" y="2256810"/>
            <a:ext cx="13559427" cy="7190204"/>
          </a:xfrm>
          <a:custGeom>
            <a:avLst/>
            <a:gdLst/>
            <a:ahLst/>
            <a:cxnLst/>
            <a:rect r="r" b="b" t="t" l="l"/>
            <a:pathLst>
              <a:path h="7190204" w="13559427">
                <a:moveTo>
                  <a:pt x="0" y="0"/>
                </a:moveTo>
                <a:lnTo>
                  <a:pt x="13559427" y="0"/>
                </a:lnTo>
                <a:lnTo>
                  <a:pt x="13559427" y="7190203"/>
                </a:lnTo>
                <a:lnTo>
                  <a:pt x="0" y="7190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Gen-AI Implementation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400" y="1244811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92581" y="-44309"/>
            <a:ext cx="9919075" cy="11832977"/>
            <a:chOff x="0" y="0"/>
            <a:chExt cx="6213107" cy="7411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4357799">
            <a:off x="9498029" y="2033600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26969" y="-216610"/>
            <a:ext cx="10207942" cy="12177581"/>
            <a:chOff x="0" y="0"/>
            <a:chExt cx="6213107" cy="7411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909" r="0" b="-12909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3622" y="1566355"/>
            <a:ext cx="882500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Which Model?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40438" y="3148171"/>
            <a:ext cx="9005614" cy="668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37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เกณฑ์ที่ต้องพิจารณาสำหรับแต่ละ Use Case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 Source vs Commercial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เลือกตัวที่เก่งที่สุดในงานนั้น (Best of breed)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เวอร์ชันและวงจรชีวิตของโมเดล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ความคุ้มค่ากับการใช้เกินจำเป็น → ขนาดโมเดล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ความแม่นยำ</a:t>
            </a:r>
          </a:p>
          <a:p>
            <a:pPr algn="l">
              <a:lnSpc>
                <a:spcPts val="5314"/>
              </a:lnSpc>
            </a:pPr>
          </a:p>
          <a:p>
            <a:pPr algn="l">
              <a:lnSpc>
                <a:spcPts val="5314"/>
              </a:lnSpc>
            </a:pP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924624"/>
            <a:ext cx="14229324" cy="803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823" indent="-377412" lvl="1">
              <a:lnSpc>
                <a:spcPts val="4894"/>
              </a:lnSpc>
              <a:buFont typeface="Arial"/>
              <a:buChar char="•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Premises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ประมวลผล: เลือก GPU / ขนาด VRAM / การทำ Quantization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TX PRO 6000 Blackwell = 96GB / ~$10,000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 = 80GB / ~$30,000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H200 = 141GB / ~$35,000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ความสามารถในการขยาย</a:t>
            </a: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จำนวนผู้ใช้พร้อมกัน, ขนาด context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แบบตอบทันที (</a:t>
            </a: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Online) หรือแบบประมวลผลเป็นชุด (Batch)</a:t>
            </a:r>
          </a:p>
          <a:p>
            <a:pPr algn="l">
              <a:lnSpc>
                <a:spcPts val="4894"/>
              </a:lnSpc>
            </a:pPr>
          </a:p>
          <a:p>
            <a:pPr algn="l" marL="754823" indent="-377412" lvl="1">
              <a:lnSpc>
                <a:spcPts val="4894"/>
              </a:lnSpc>
              <a:buFont typeface="Arial"/>
              <a:buChar char="•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Cloud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เลือกเจ้าไหน? ดูที่ราคา ความหลากหลายของโมเดล และความพร้อมใช้งาน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รูปแบบราคา</a:t>
            </a: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1 ล้าน token หมดเร็วมาก!</a:t>
            </a:r>
          </a:p>
          <a:p>
            <a:pPr algn="l" marL="1509646" indent="-503215" lvl="2">
              <a:lnSpc>
                <a:spcPts val="4894"/>
              </a:lnSpc>
              <a:buFont typeface="Arial"/>
              <a:buChar char="⚬"/>
            </a:pP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อธิปไตยของข้อมูล (</a:t>
            </a:r>
            <a:r>
              <a:rPr lang="en-US" sz="34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Sovereignty) และความเป็นส่วนตัวของข้อมูล</a:t>
            </a:r>
          </a:p>
          <a:p>
            <a:pPr algn="l">
              <a:lnSpc>
                <a:spcPts val="4894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82382" y="4041728"/>
            <a:ext cx="4238243" cy="2770751"/>
          </a:xfrm>
          <a:custGeom>
            <a:avLst/>
            <a:gdLst/>
            <a:ahLst/>
            <a:cxnLst/>
            <a:rect r="r" b="b" t="t" l="l"/>
            <a:pathLst>
              <a:path h="2770751" w="4238243">
                <a:moveTo>
                  <a:pt x="0" y="0"/>
                </a:moveTo>
                <a:lnTo>
                  <a:pt x="4238243" y="0"/>
                </a:lnTo>
                <a:lnTo>
                  <a:pt x="4238243" y="2770751"/>
                </a:lnTo>
                <a:lnTo>
                  <a:pt x="0" y="2770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62625" y="676275"/>
            <a:ext cx="856274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Infrastructure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39894" y="2685437"/>
            <a:ext cx="12626430" cy="6518394"/>
          </a:xfrm>
          <a:custGeom>
            <a:avLst/>
            <a:gdLst/>
            <a:ahLst/>
            <a:cxnLst/>
            <a:rect r="r" b="b" t="t" l="l"/>
            <a:pathLst>
              <a:path h="6518394" w="12626430">
                <a:moveTo>
                  <a:pt x="0" y="0"/>
                </a:moveTo>
                <a:lnTo>
                  <a:pt x="12626429" y="0"/>
                </a:lnTo>
                <a:lnTo>
                  <a:pt x="12626429" y="6518394"/>
                </a:lnTo>
                <a:lnTo>
                  <a:pt x="0" y="6518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62625" y="676275"/>
            <a:ext cx="856274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GPU Providers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400" y="163789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4357799">
            <a:off x="9498029" y="2033600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8995" y="664886"/>
            <a:ext cx="882500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Text-Large Language Models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949241"/>
            <a:ext cx="9932949" cy="83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OpenAI: GPT-5.6 (Sol / Terra / Luna):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แบ่งเป็นสามชั้น Sol ($5/$30), Terra ($2/$12), Luna ($0.20/$1.20) เปิดใช้งานทั่วไป 9 กรกฎาคม จากนั้น 30 กรกฎาคม OpenAI ลดราคา Terra 20% และ Luna 80%</a:t>
            </a:r>
          </a:p>
          <a:p>
            <a:pPr algn="l">
              <a:lnSpc>
                <a:spcPts val="4194"/>
              </a:lnSpc>
            </a:pP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Anthropic: Claude Opus 5 / Fable 5.1: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Opus 5 ออกวันที่ 24 กรกฎาคม 2026 ขึ้นเป็นอันดับหนึ่ง ราคา $5/$25 และถูกกว่า Fable 5 ราวครึ่งหนึ่ง ส่วน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Fable 5.1 ออกวันที่ 1 กันยายน 2026 เป็นรุ่นเรือธงระดับ Mythos</a:t>
            </a:r>
          </a:p>
          <a:p>
            <a:pPr algn="l">
              <a:lnSpc>
                <a:spcPts val="4194"/>
              </a:lnSpc>
            </a:pP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Goog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e: Gemini 3.7 F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ash: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ใหญ่มาก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มัลติโมดัลแข็ง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ราคาถูก</a:t>
            </a:r>
          </a:p>
          <a:p>
            <a:pPr algn="l">
              <a:lnSpc>
                <a:spcPts val="4194"/>
              </a:lnSpc>
            </a:pP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tral: Mistral Large 3 / Medium 3.5: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จากฝรั่งเศส</a:t>
            </a:r>
          </a:p>
          <a:p>
            <a:pPr algn="l">
              <a:lnSpc>
                <a:spcPts val="419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722088" y="1122086"/>
            <a:ext cx="8454997" cy="83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Moonshot: Kimi K3: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เป็น MoE ขนาด 2.8T ติดอันดับ 3 โดยรวมบน Artificial Analysis Intelligence Index นำหน้าโมเดลปิดทุกตัวยกเว้น Claude Fable 5 กับ GPT-5.6 Sol และครองอันดับ 1 บน Frontend Code Arena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DeepSeek: DeepSeek V4-Pro: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เป็นตัวกำหนดราคาพื้น (price floor) ของตลาด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Z.AI: GLM-5.3 และ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Alibaba: Qwen: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GLM-5.3 กับ Kimi K3 ทำคะแนนด้านโค้ดระดับแนวหน้าในราคาที่ถูกกว่ามาก จึงนิยมใช้กับงานปริมาณสูง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Amazon: Nova 2 (Lite / Pro):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ตระกูล Micro/Lite/Pro/Premier รุ่นแรกถูกแทนด้วย Nova 2 แล้ว ซึ่งขยาย context เป็น 1M token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895981" y="2307200"/>
            <a:ext cx="12700142" cy="7376666"/>
          </a:xfrm>
          <a:custGeom>
            <a:avLst/>
            <a:gdLst/>
            <a:ahLst/>
            <a:cxnLst/>
            <a:rect r="r" b="b" t="t" l="l"/>
            <a:pathLst>
              <a:path h="7376666" w="12700142">
                <a:moveTo>
                  <a:pt x="0" y="0"/>
                </a:moveTo>
                <a:lnTo>
                  <a:pt x="12700142" y="0"/>
                </a:lnTo>
                <a:lnTo>
                  <a:pt x="12700142" y="7376666"/>
                </a:lnTo>
                <a:lnTo>
                  <a:pt x="0" y="7376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62625" y="676275"/>
            <a:ext cx="856274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Hugging Face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68908" y="2010312"/>
            <a:ext cx="13342352" cy="7638497"/>
          </a:xfrm>
          <a:custGeom>
            <a:avLst/>
            <a:gdLst/>
            <a:ahLst/>
            <a:cxnLst/>
            <a:rect r="r" b="b" t="t" l="l"/>
            <a:pathLst>
              <a:path h="7638497" w="13342352">
                <a:moveTo>
                  <a:pt x="0" y="0"/>
                </a:moveTo>
                <a:lnTo>
                  <a:pt x="13342352" y="0"/>
                </a:lnTo>
                <a:lnTo>
                  <a:pt x="13342352" y="7638496"/>
                </a:lnTo>
                <a:lnTo>
                  <a:pt x="0" y="7638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Open AI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46832" y="1933861"/>
            <a:ext cx="13598441" cy="7836102"/>
          </a:xfrm>
          <a:custGeom>
            <a:avLst/>
            <a:gdLst/>
            <a:ahLst/>
            <a:cxnLst/>
            <a:rect r="r" b="b" t="t" l="l"/>
            <a:pathLst>
              <a:path h="7836102" w="13598441">
                <a:moveTo>
                  <a:pt x="0" y="0"/>
                </a:moveTo>
                <a:lnTo>
                  <a:pt x="13598441" y="0"/>
                </a:lnTo>
                <a:lnTo>
                  <a:pt x="13598441" y="7836101"/>
                </a:lnTo>
                <a:lnTo>
                  <a:pt x="0" y="7836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Gemini API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68811" y="2080960"/>
            <a:ext cx="13154483" cy="7541903"/>
          </a:xfrm>
          <a:custGeom>
            <a:avLst/>
            <a:gdLst/>
            <a:ahLst/>
            <a:cxnLst/>
            <a:rect r="r" b="b" t="t" l="l"/>
            <a:pathLst>
              <a:path h="7541903" w="13154483">
                <a:moveTo>
                  <a:pt x="0" y="0"/>
                </a:moveTo>
                <a:lnTo>
                  <a:pt x="13154483" y="0"/>
                </a:lnTo>
                <a:lnTo>
                  <a:pt x="13154483" y="7541903"/>
                </a:lnTo>
                <a:lnTo>
                  <a:pt x="0" y="754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Claude API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3552" y="2239280"/>
            <a:ext cx="12341358" cy="6926587"/>
          </a:xfrm>
          <a:custGeom>
            <a:avLst/>
            <a:gdLst/>
            <a:ahLst/>
            <a:cxnLst/>
            <a:rect r="r" b="b" t="t" l="l"/>
            <a:pathLst>
              <a:path h="6926587" w="12341358">
                <a:moveTo>
                  <a:pt x="0" y="0"/>
                </a:moveTo>
                <a:lnTo>
                  <a:pt x="12341358" y="0"/>
                </a:lnTo>
                <a:lnTo>
                  <a:pt x="12341358" y="6926587"/>
                </a:lnTo>
                <a:lnTo>
                  <a:pt x="0" y="692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LLama (Open source)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07026" y="2200201"/>
            <a:ext cx="12011367" cy="6771408"/>
          </a:xfrm>
          <a:custGeom>
            <a:avLst/>
            <a:gdLst/>
            <a:ahLst/>
            <a:cxnLst/>
            <a:rect r="r" b="b" t="t" l="l"/>
            <a:pathLst>
              <a:path h="6771408" w="12011367">
                <a:moveTo>
                  <a:pt x="0" y="0"/>
                </a:moveTo>
                <a:lnTo>
                  <a:pt x="12011367" y="0"/>
                </a:lnTo>
                <a:lnTo>
                  <a:pt x="12011367" y="6771409"/>
                </a:lnTo>
                <a:lnTo>
                  <a:pt x="0" y="6771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OpenRouter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400" y="1244811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92581" y="-44309"/>
            <a:ext cx="9919075" cy="11832977"/>
            <a:chOff x="0" y="0"/>
            <a:chExt cx="6213107" cy="7411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4357799">
            <a:off x="9498029" y="2033600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26969" y="-216610"/>
            <a:ext cx="10207942" cy="12177581"/>
            <a:chOff x="0" y="0"/>
            <a:chExt cx="6213107" cy="7411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blipFill>
              <a:blip r:embed="rId4"/>
              <a:stretch>
                <a:fillRect l="-39525" t="0" r="-39525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8995" y="1704912"/>
            <a:ext cx="8825005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 AI Implementation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18995" y="3428937"/>
            <a:ext cx="8674260" cy="601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ED4249"/>
                </a:solidFill>
                <a:latin typeface="Poppins"/>
                <a:ea typeface="Poppins"/>
                <a:cs typeface="Poppins"/>
                <a:sym typeface="Poppins"/>
              </a:rPr>
              <a:t>Prompt Engineering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Fine Tuning (Continuous Learning)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ED4249"/>
                </a:solidFill>
                <a:latin typeface="Poppins"/>
                <a:ea typeface="Poppins"/>
                <a:cs typeface="Poppins"/>
                <a:sym typeface="Poppins"/>
              </a:rPr>
              <a:t>Retrieval Augmented Generation (RAG)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your own LLM </a:t>
            </a:r>
          </a:p>
          <a:p>
            <a:pPr algn="l" marL="819591" indent="-409796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E60D0D"/>
                </a:solidFill>
                <a:latin typeface="Poppins"/>
                <a:ea typeface="Poppins"/>
                <a:cs typeface="Poppins"/>
                <a:sym typeface="Poppins"/>
              </a:rPr>
              <a:t>Build AI App (Agents)</a:t>
            </a:r>
          </a:p>
          <a:p>
            <a:pPr algn="l">
              <a:lnSpc>
                <a:spcPts val="5314"/>
              </a:lnSpc>
            </a:pPr>
          </a:p>
          <a:p>
            <a:pPr algn="l">
              <a:lnSpc>
                <a:spcPts val="5314"/>
              </a:lnSpc>
            </a:pP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400" y="1244811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82950" y="-104555"/>
            <a:ext cx="9919075" cy="11832977"/>
            <a:chOff x="0" y="0"/>
            <a:chExt cx="6213107" cy="7411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4357799">
            <a:off x="9498029" y="2033600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26969" y="-216610"/>
            <a:ext cx="10207942" cy="12177581"/>
            <a:chOff x="0" y="0"/>
            <a:chExt cx="6213107" cy="7411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blipFill>
              <a:blip r:embed="rId4"/>
              <a:stretch>
                <a:fillRect l="-39525" t="0" r="-3952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18995" y="1745907"/>
            <a:ext cx="8825005" cy="122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Agentic AI ?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46278" y="3252172"/>
            <a:ext cx="8297722" cy="419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ระบบ AI ที่สามารถ</a:t>
            </a: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ตั้งเป้าหมายของตัวเอง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ตัดสินใจได้</a:t>
            </a: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อย่างอิสระ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และลง</a:t>
            </a: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มือทำได้เอง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โดยไม่ต้องมีมนุษย์คอยสั่งตลอดเวลา</a:t>
            </a:r>
          </a:p>
          <a:p>
            <a:pPr algn="l">
              <a:lnSpc>
                <a:spcPts val="4194"/>
              </a:lnSpc>
            </a:pPr>
          </a:p>
          <a:p>
            <a:pPr algn="l">
              <a:lnSpc>
                <a:spcPts val="4194"/>
              </a:lnSpc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ต่างจาก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workflow แบบเดิมที่เราสั่ง AI ให้ทำอะไรจบในครั้งเดียว agentic workflow จะแตกงานใหญ่ออกเป็นขั้นตอนย่อย แล้ววนทำซ้ำเป็นวงจร คือ </a:t>
            </a:r>
          </a:p>
          <a:p>
            <a:pPr algn="l">
              <a:lnSpc>
                <a:spcPts val="419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81059" y="7367069"/>
            <a:ext cx="969258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คิด → ค้นข้อมูล → สร้างผลลัพธ์ → แล้วปรับแก้จากผลลัพธ์นั้น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06631" y="1036440"/>
            <a:ext cx="10750631" cy="1423272"/>
            <a:chOff x="0" y="0"/>
            <a:chExt cx="2831442" cy="3748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1442" cy="374854"/>
            </a:xfrm>
            <a:custGeom>
              <a:avLst/>
              <a:gdLst/>
              <a:ahLst/>
              <a:cxnLst/>
              <a:rect r="r" b="b" t="t" l="l"/>
              <a:pathLst>
                <a:path h="374854" w="2831442">
                  <a:moveTo>
                    <a:pt x="65532" y="0"/>
                  </a:moveTo>
                  <a:lnTo>
                    <a:pt x="2765909" y="0"/>
                  </a:lnTo>
                  <a:cubicBezTo>
                    <a:pt x="2802102" y="0"/>
                    <a:pt x="2831442" y="29340"/>
                    <a:pt x="2831442" y="65532"/>
                  </a:cubicBezTo>
                  <a:lnTo>
                    <a:pt x="2831442" y="309321"/>
                  </a:lnTo>
                  <a:cubicBezTo>
                    <a:pt x="2831442" y="326701"/>
                    <a:pt x="2824538" y="343370"/>
                    <a:pt x="2812248" y="355660"/>
                  </a:cubicBezTo>
                  <a:cubicBezTo>
                    <a:pt x="2799958" y="367949"/>
                    <a:pt x="2783290" y="374854"/>
                    <a:pt x="2765909" y="374854"/>
                  </a:cubicBezTo>
                  <a:lnTo>
                    <a:pt x="65532" y="374854"/>
                  </a:lnTo>
                  <a:cubicBezTo>
                    <a:pt x="48152" y="374854"/>
                    <a:pt x="31484" y="367949"/>
                    <a:pt x="19194" y="355660"/>
                  </a:cubicBezTo>
                  <a:cubicBezTo>
                    <a:pt x="6904" y="343370"/>
                    <a:pt x="0" y="326701"/>
                    <a:pt x="0" y="309321"/>
                  </a:cubicBezTo>
                  <a:lnTo>
                    <a:pt x="0" y="65532"/>
                  </a:lnTo>
                  <a:cubicBezTo>
                    <a:pt x="0" y="48152"/>
                    <a:pt x="6904" y="31484"/>
                    <a:pt x="19194" y="19194"/>
                  </a:cubicBezTo>
                  <a:cubicBezTo>
                    <a:pt x="31484" y="6904"/>
                    <a:pt x="48152" y="0"/>
                    <a:pt x="65532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831442" cy="432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764278"/>
            <a:ext cx="19491312" cy="1014155"/>
            <a:chOff x="0" y="0"/>
            <a:chExt cx="5133514" cy="2671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67103"/>
            </a:xfrm>
            <a:custGeom>
              <a:avLst/>
              <a:gdLst/>
              <a:ahLst/>
              <a:cxnLst/>
              <a:rect r="r" b="b" t="t" l="l"/>
              <a:pathLst>
                <a:path h="267103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67103"/>
                  </a:lnTo>
                  <a:lnTo>
                    <a:pt x="0" y="267103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24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5701504" y="5868349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5012238"/>
                </a:moveTo>
                <a:lnTo>
                  <a:pt x="0" y="5012238"/>
                </a:lnTo>
                <a:lnTo>
                  <a:pt x="0" y="0"/>
                </a:lnTo>
                <a:lnTo>
                  <a:pt x="3840627" y="0"/>
                </a:lnTo>
                <a:lnTo>
                  <a:pt x="3840627" y="50122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27065" y="1925342"/>
            <a:ext cx="6251273" cy="6436317"/>
          </a:xfrm>
          <a:custGeom>
            <a:avLst/>
            <a:gdLst/>
            <a:ahLst/>
            <a:cxnLst/>
            <a:rect r="r" b="b" t="t" l="l"/>
            <a:pathLst>
              <a:path h="6436317" w="6251273">
                <a:moveTo>
                  <a:pt x="0" y="0"/>
                </a:moveTo>
                <a:lnTo>
                  <a:pt x="6251273" y="0"/>
                </a:lnTo>
                <a:lnTo>
                  <a:pt x="6251273" y="6436316"/>
                </a:lnTo>
                <a:lnTo>
                  <a:pt x="0" y="6436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6314" y="1429669"/>
            <a:ext cx="9409543" cy="64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Agentic AI Characteristics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6630" y="2988686"/>
            <a:ext cx="10991469" cy="60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ความเป็นอิสระ (Autonomy):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ทำงานได้โดยไม่ต้องมีมนุษย์คอยกำกับตลอด ตัดสินใจได้เอง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ขับเคลื่อนด้วยเป้าหมาย (Goal-Driven):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ทำงานเพื่อบรรลุเป้าหมายที่ชัดเจนอย่างจริงจัง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การตัดสินใจขั้นสูง (Advanced Decision-Making):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ประเมินทางเลือก เลือกแนวทางที่ดีที่สุด และปรับตัวตามสถานการณ์และความรู้ที่มี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ความคิดริเริ่ม (Proactiveness):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ลงมือเองก่อน ไม่รอให้มีอะไรมากระตุ้น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3D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99269" y="626566"/>
            <a:ext cx="11723489" cy="2975775"/>
            <a:chOff x="0" y="0"/>
            <a:chExt cx="15631318" cy="39676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31319" cy="3967699"/>
            </a:xfrm>
            <a:custGeom>
              <a:avLst/>
              <a:gdLst/>
              <a:ahLst/>
              <a:cxnLst/>
              <a:rect r="r" b="b" t="t" l="l"/>
              <a:pathLst>
                <a:path h="3967699" w="15631319">
                  <a:moveTo>
                    <a:pt x="0" y="0"/>
                  </a:moveTo>
                  <a:lnTo>
                    <a:pt x="15631319" y="0"/>
                  </a:lnTo>
                  <a:lnTo>
                    <a:pt x="15631319" y="3967699"/>
                  </a:lnTo>
                  <a:lnTo>
                    <a:pt x="0" y="3967699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631318" cy="39867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6"/>
                </a:lnSpc>
              </a:pPr>
              <a:r>
                <a:rPr lang="en-US" sz="556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</a:t>
              </a:r>
              <a:r>
                <a:rPr lang="en-US" b="true" sz="556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 Four Stages of Agentic AI</a:t>
              </a:r>
            </a:p>
            <a:p>
              <a:pPr algn="l">
                <a:lnSpc>
                  <a:spcPts val="6936"/>
                </a:lnSpc>
              </a:pPr>
            </a:p>
            <a:p>
              <a:pPr algn="l">
                <a:lnSpc>
                  <a:spcPts val="6937"/>
                </a:lnSpc>
              </a:pP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6925925" y="285750"/>
            <a:ext cx="1076325" cy="681632"/>
          </a:xfrm>
          <a:custGeom>
            <a:avLst/>
            <a:gdLst/>
            <a:ahLst/>
            <a:cxnLst/>
            <a:rect r="r" b="b" t="t" l="l"/>
            <a:pathLst>
              <a:path h="681632" w="1076325">
                <a:moveTo>
                  <a:pt x="0" y="0"/>
                </a:moveTo>
                <a:lnTo>
                  <a:pt x="1076325" y="0"/>
                </a:lnTo>
                <a:lnTo>
                  <a:pt x="1076325" y="681632"/>
                </a:lnTo>
                <a:lnTo>
                  <a:pt x="0" y="681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5" r="0" b="-30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451163"/>
            <a:ext cx="9214433" cy="7095113"/>
          </a:xfrm>
          <a:custGeom>
            <a:avLst/>
            <a:gdLst/>
            <a:ahLst/>
            <a:cxnLst/>
            <a:rect r="r" b="b" t="t" l="l"/>
            <a:pathLst>
              <a:path h="7095113" w="9214433">
                <a:moveTo>
                  <a:pt x="0" y="0"/>
                </a:moveTo>
                <a:lnTo>
                  <a:pt x="9214433" y="0"/>
                </a:lnTo>
                <a:lnTo>
                  <a:pt x="9214433" y="7095113"/>
                </a:lnTo>
                <a:lnTo>
                  <a:pt x="0" y="7095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02897" y="3582374"/>
            <a:ext cx="7564048" cy="4424968"/>
          </a:xfrm>
          <a:custGeom>
            <a:avLst/>
            <a:gdLst/>
            <a:ahLst/>
            <a:cxnLst/>
            <a:rect r="r" b="b" t="t" l="l"/>
            <a:pathLst>
              <a:path h="4424968" w="7564048">
                <a:moveTo>
                  <a:pt x="0" y="0"/>
                </a:moveTo>
                <a:lnTo>
                  <a:pt x="7564048" y="0"/>
                </a:lnTo>
                <a:lnTo>
                  <a:pt x="7564048" y="4424968"/>
                </a:lnTo>
                <a:lnTo>
                  <a:pt x="0" y="44249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890576" y="1582036"/>
            <a:ext cx="14506848" cy="7507294"/>
          </a:xfrm>
          <a:custGeom>
            <a:avLst/>
            <a:gdLst/>
            <a:ahLst/>
            <a:cxnLst/>
            <a:rect r="r" b="b" t="t" l="l"/>
            <a:pathLst>
              <a:path h="7507294" w="14506848">
                <a:moveTo>
                  <a:pt x="0" y="0"/>
                </a:moveTo>
                <a:lnTo>
                  <a:pt x="14506848" y="0"/>
                </a:lnTo>
                <a:lnTo>
                  <a:pt x="14506848" y="7507294"/>
                </a:lnTo>
                <a:lnTo>
                  <a:pt x="0" y="7507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517" y="9366426"/>
            <a:ext cx="11906227" cy="26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Source: MCPs Explained for Beginners: AI Flight Booking Demo!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008375" y="1028700"/>
            <a:ext cx="14099137" cy="7930765"/>
          </a:xfrm>
          <a:custGeom>
            <a:avLst/>
            <a:gdLst/>
            <a:ahLst/>
            <a:cxnLst/>
            <a:rect r="r" b="b" t="t" l="l"/>
            <a:pathLst>
              <a:path h="7930765" w="14099137">
                <a:moveTo>
                  <a:pt x="0" y="0"/>
                </a:moveTo>
                <a:lnTo>
                  <a:pt x="14099138" y="0"/>
                </a:lnTo>
                <a:lnTo>
                  <a:pt x="14099138" y="7930765"/>
                </a:lnTo>
                <a:lnTo>
                  <a:pt x="0" y="7930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517" y="9366426"/>
            <a:ext cx="11906227" cy="26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Source: MCPs Explained for Beginners: AI Flight Booking Demo!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06631" y="1036440"/>
            <a:ext cx="10750631" cy="1423272"/>
            <a:chOff x="0" y="0"/>
            <a:chExt cx="2831442" cy="3748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1442" cy="374854"/>
            </a:xfrm>
            <a:custGeom>
              <a:avLst/>
              <a:gdLst/>
              <a:ahLst/>
              <a:cxnLst/>
              <a:rect r="r" b="b" t="t" l="l"/>
              <a:pathLst>
                <a:path h="374854" w="2831442">
                  <a:moveTo>
                    <a:pt x="65532" y="0"/>
                  </a:moveTo>
                  <a:lnTo>
                    <a:pt x="2765909" y="0"/>
                  </a:lnTo>
                  <a:cubicBezTo>
                    <a:pt x="2802102" y="0"/>
                    <a:pt x="2831442" y="29340"/>
                    <a:pt x="2831442" y="65532"/>
                  </a:cubicBezTo>
                  <a:lnTo>
                    <a:pt x="2831442" y="309321"/>
                  </a:lnTo>
                  <a:cubicBezTo>
                    <a:pt x="2831442" y="326701"/>
                    <a:pt x="2824538" y="343370"/>
                    <a:pt x="2812248" y="355660"/>
                  </a:cubicBezTo>
                  <a:cubicBezTo>
                    <a:pt x="2799958" y="367949"/>
                    <a:pt x="2783290" y="374854"/>
                    <a:pt x="2765909" y="374854"/>
                  </a:cubicBezTo>
                  <a:lnTo>
                    <a:pt x="65532" y="374854"/>
                  </a:lnTo>
                  <a:cubicBezTo>
                    <a:pt x="48152" y="374854"/>
                    <a:pt x="31484" y="367949"/>
                    <a:pt x="19194" y="355660"/>
                  </a:cubicBezTo>
                  <a:cubicBezTo>
                    <a:pt x="6904" y="343370"/>
                    <a:pt x="0" y="326701"/>
                    <a:pt x="0" y="309321"/>
                  </a:cubicBezTo>
                  <a:lnTo>
                    <a:pt x="0" y="65532"/>
                  </a:lnTo>
                  <a:cubicBezTo>
                    <a:pt x="0" y="48152"/>
                    <a:pt x="6904" y="31484"/>
                    <a:pt x="19194" y="19194"/>
                  </a:cubicBezTo>
                  <a:cubicBezTo>
                    <a:pt x="31484" y="6904"/>
                    <a:pt x="48152" y="0"/>
                    <a:pt x="65532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831442" cy="432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764278"/>
            <a:ext cx="19491312" cy="1014155"/>
            <a:chOff x="0" y="0"/>
            <a:chExt cx="5133514" cy="2671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67103"/>
            </a:xfrm>
            <a:custGeom>
              <a:avLst/>
              <a:gdLst/>
              <a:ahLst/>
              <a:cxnLst/>
              <a:rect r="r" b="b" t="t" l="l"/>
              <a:pathLst>
                <a:path h="267103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67103"/>
                  </a:lnTo>
                  <a:lnTo>
                    <a:pt x="0" y="267103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24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5701504" y="5868349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5012238"/>
                </a:moveTo>
                <a:lnTo>
                  <a:pt x="0" y="5012238"/>
                </a:lnTo>
                <a:lnTo>
                  <a:pt x="0" y="0"/>
                </a:lnTo>
                <a:lnTo>
                  <a:pt x="3840627" y="0"/>
                </a:lnTo>
                <a:lnTo>
                  <a:pt x="3840627" y="50122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2810572"/>
            <a:ext cx="7848024" cy="6582530"/>
          </a:xfrm>
          <a:custGeom>
            <a:avLst/>
            <a:gdLst/>
            <a:ahLst/>
            <a:cxnLst/>
            <a:rect r="r" b="b" t="t" l="l"/>
            <a:pathLst>
              <a:path h="6582530" w="7848024">
                <a:moveTo>
                  <a:pt x="0" y="0"/>
                </a:moveTo>
                <a:lnTo>
                  <a:pt x="7848024" y="0"/>
                </a:lnTo>
                <a:lnTo>
                  <a:pt x="7848024" y="6582530"/>
                </a:lnTo>
                <a:lnTo>
                  <a:pt x="0" y="6582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36254" y="3189762"/>
            <a:ext cx="6822057" cy="4553723"/>
          </a:xfrm>
          <a:custGeom>
            <a:avLst/>
            <a:gdLst/>
            <a:ahLst/>
            <a:cxnLst/>
            <a:rect r="r" b="b" t="t" l="l"/>
            <a:pathLst>
              <a:path h="4553723" w="6822057">
                <a:moveTo>
                  <a:pt x="0" y="0"/>
                </a:moveTo>
                <a:lnTo>
                  <a:pt x="6822057" y="0"/>
                </a:lnTo>
                <a:lnTo>
                  <a:pt x="6822057" y="4553723"/>
                </a:lnTo>
                <a:lnTo>
                  <a:pt x="0" y="45537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314" y="1429669"/>
            <a:ext cx="9409543" cy="64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Generative AI vs. Agentic AI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764278"/>
            <a:ext cx="19491312" cy="1014155"/>
            <a:chOff x="0" y="0"/>
            <a:chExt cx="5133514" cy="267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67103"/>
            </a:xfrm>
            <a:custGeom>
              <a:avLst/>
              <a:gdLst/>
              <a:ahLst/>
              <a:cxnLst/>
              <a:rect r="r" b="b" t="t" l="l"/>
              <a:pathLst>
                <a:path h="267103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67103"/>
                  </a:lnTo>
                  <a:lnTo>
                    <a:pt x="0" y="267103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24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5701504" y="5868349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5012238"/>
                </a:moveTo>
                <a:lnTo>
                  <a:pt x="0" y="5012238"/>
                </a:lnTo>
                <a:lnTo>
                  <a:pt x="0" y="0"/>
                </a:lnTo>
                <a:lnTo>
                  <a:pt x="3840627" y="0"/>
                </a:lnTo>
                <a:lnTo>
                  <a:pt x="3840627" y="50122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14803" y="922730"/>
            <a:ext cx="12685533" cy="8451736"/>
          </a:xfrm>
          <a:custGeom>
            <a:avLst/>
            <a:gdLst/>
            <a:ahLst/>
            <a:cxnLst/>
            <a:rect r="r" b="b" t="t" l="l"/>
            <a:pathLst>
              <a:path h="8451736" w="12685533">
                <a:moveTo>
                  <a:pt x="0" y="0"/>
                </a:moveTo>
                <a:lnTo>
                  <a:pt x="12685533" y="0"/>
                </a:lnTo>
                <a:lnTo>
                  <a:pt x="12685533" y="8451736"/>
                </a:lnTo>
                <a:lnTo>
                  <a:pt x="0" y="8451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764278"/>
            <a:ext cx="19491312" cy="1014155"/>
            <a:chOff x="0" y="0"/>
            <a:chExt cx="5133514" cy="267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67103"/>
            </a:xfrm>
            <a:custGeom>
              <a:avLst/>
              <a:gdLst/>
              <a:ahLst/>
              <a:cxnLst/>
              <a:rect r="r" b="b" t="t" l="l"/>
              <a:pathLst>
                <a:path h="267103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67103"/>
                  </a:lnTo>
                  <a:lnTo>
                    <a:pt x="0" y="267103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24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5701504" y="5868349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5012238"/>
                </a:moveTo>
                <a:lnTo>
                  <a:pt x="0" y="5012238"/>
                </a:lnTo>
                <a:lnTo>
                  <a:pt x="0" y="0"/>
                </a:lnTo>
                <a:lnTo>
                  <a:pt x="3840627" y="0"/>
                </a:lnTo>
                <a:lnTo>
                  <a:pt x="3840627" y="50122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38774" y="919176"/>
            <a:ext cx="12680898" cy="8448648"/>
          </a:xfrm>
          <a:custGeom>
            <a:avLst/>
            <a:gdLst/>
            <a:ahLst/>
            <a:cxnLst/>
            <a:rect r="r" b="b" t="t" l="l"/>
            <a:pathLst>
              <a:path h="8448648" w="12680898">
                <a:moveTo>
                  <a:pt x="0" y="0"/>
                </a:moveTo>
                <a:lnTo>
                  <a:pt x="12680898" y="0"/>
                </a:lnTo>
                <a:lnTo>
                  <a:pt x="12680898" y="8448648"/>
                </a:lnTo>
                <a:lnTo>
                  <a:pt x="0" y="8448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3D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6925925" y="285750"/>
            <a:ext cx="1076325" cy="681632"/>
          </a:xfrm>
          <a:custGeom>
            <a:avLst/>
            <a:gdLst/>
            <a:ahLst/>
            <a:cxnLst/>
            <a:rect r="r" b="b" t="t" l="l"/>
            <a:pathLst>
              <a:path h="681632" w="1076325">
                <a:moveTo>
                  <a:pt x="0" y="0"/>
                </a:moveTo>
                <a:lnTo>
                  <a:pt x="1076325" y="0"/>
                </a:lnTo>
                <a:lnTo>
                  <a:pt x="1076325" y="681632"/>
                </a:lnTo>
                <a:lnTo>
                  <a:pt x="0" y="681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5" r="0" b="-30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29989" y="2417758"/>
            <a:ext cx="13050183" cy="7144975"/>
          </a:xfrm>
          <a:custGeom>
            <a:avLst/>
            <a:gdLst/>
            <a:ahLst/>
            <a:cxnLst/>
            <a:rect r="r" b="b" t="t" l="l"/>
            <a:pathLst>
              <a:path h="7144975" w="13050183">
                <a:moveTo>
                  <a:pt x="0" y="0"/>
                </a:moveTo>
                <a:lnTo>
                  <a:pt x="13050184" y="0"/>
                </a:lnTo>
                <a:lnTo>
                  <a:pt x="13050184" y="7144976"/>
                </a:lnTo>
                <a:lnTo>
                  <a:pt x="0" y="7144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Agent: Types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3D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6925925" y="285750"/>
            <a:ext cx="1076325" cy="681632"/>
          </a:xfrm>
          <a:custGeom>
            <a:avLst/>
            <a:gdLst/>
            <a:ahLst/>
            <a:cxnLst/>
            <a:rect r="r" b="b" t="t" l="l"/>
            <a:pathLst>
              <a:path h="681632" w="1076325">
                <a:moveTo>
                  <a:pt x="0" y="0"/>
                </a:moveTo>
                <a:lnTo>
                  <a:pt x="1076325" y="0"/>
                </a:lnTo>
                <a:lnTo>
                  <a:pt x="1076325" y="681632"/>
                </a:lnTo>
                <a:lnTo>
                  <a:pt x="0" y="681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5" r="0" b="-30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254131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0" y="0"/>
                </a:moveTo>
                <a:lnTo>
                  <a:pt x="3840627" y="0"/>
                </a:lnTo>
                <a:lnTo>
                  <a:pt x="3840627" y="5012238"/>
                </a:lnTo>
                <a:lnTo>
                  <a:pt x="0" y="501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37313" y="2867086"/>
            <a:ext cx="13102743" cy="5437638"/>
          </a:xfrm>
          <a:custGeom>
            <a:avLst/>
            <a:gdLst/>
            <a:ahLst/>
            <a:cxnLst/>
            <a:rect r="r" b="b" t="t" l="l"/>
            <a:pathLst>
              <a:path h="5437638" w="13102743">
                <a:moveTo>
                  <a:pt x="0" y="0"/>
                </a:moveTo>
                <a:lnTo>
                  <a:pt x="13102743" y="0"/>
                </a:lnTo>
                <a:lnTo>
                  <a:pt x="13102743" y="5437639"/>
                </a:lnTo>
                <a:lnTo>
                  <a:pt x="0" y="5437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Agent: Types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28578" y="2008561"/>
            <a:ext cx="11593142" cy="7492068"/>
          </a:xfrm>
          <a:custGeom>
            <a:avLst/>
            <a:gdLst/>
            <a:ahLst/>
            <a:cxnLst/>
            <a:rect r="r" b="b" t="t" l="l"/>
            <a:pathLst>
              <a:path h="7492068" w="11593142">
                <a:moveTo>
                  <a:pt x="0" y="0"/>
                </a:moveTo>
                <a:lnTo>
                  <a:pt x="11593141" y="0"/>
                </a:lnTo>
                <a:lnTo>
                  <a:pt x="11593141" y="7492068"/>
                </a:lnTo>
                <a:lnTo>
                  <a:pt x="0" y="7492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Challenges and Risks of Agentic AI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97154" y="310996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9241" y="812092"/>
            <a:ext cx="8825005" cy="61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Agentic AI Protocols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65943" y="2666008"/>
            <a:ext cx="13556115" cy="628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ปัญหาที่แก้: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เดิมต้องเขียนโค้ดเชื่อมทีละคู่ ถ้ามี 5 โมเดล × 10 เครื่องมือ ก็ต้องเขียน 50 ชุด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วิธีแก้: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ทำครั้งเดียวใช้ได้กับทุกโมเดล เปรียบเหมือน "USB-C ของโลก AI"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โครงสร้าง 3 ชั้น: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194"/>
              </a:lnSpc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Host (แอปที่ผู้ใช้ใช้) → Client (ตัวเชื่อม) → Server (ตัวห่อเครื่องมือไว้)</a:t>
            </a:r>
          </a:p>
          <a:p>
            <a:pPr algn="l">
              <a:lnSpc>
                <a:spcPts val="4194"/>
              </a:lnSpc>
            </a:pP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MCP Server ให้ 3 อย่าง:</a:t>
            </a: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สิ่งที่ AI สั่งทำได้ เช่น ส่งอีเมล เขียนฐานข้อมูล</a:t>
            </a: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Resources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ข้อมูลที่ AI อ่านได้ เช่น ไฟล์ เอกสาร</a:t>
            </a: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Prompts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เทมเพลตคำสั่งสำเร็จรูป</a:t>
            </a:r>
          </a:p>
          <a:p>
            <a:pPr algn="l">
              <a:lnSpc>
                <a:spcPts val="4194"/>
              </a:lnSpc>
            </a:pP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ตำแหน่งในสถาปัตยกรรม: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แกน "แนวตั้ง" คือ agent คุยกับเครื่องมือ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ใช้จริงกับ: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Google Drive, Slack, Git, ฐานข้อมูล, ระบบภายในองค์กร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241" y="1899534"/>
            <a:ext cx="9655177" cy="52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MCP (Model Context Protocol)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6052" y="2675001"/>
            <a:ext cx="8578237" cy="6433678"/>
          </a:xfrm>
          <a:custGeom>
            <a:avLst/>
            <a:gdLst/>
            <a:ahLst/>
            <a:cxnLst/>
            <a:rect r="r" b="b" t="t" l="l"/>
            <a:pathLst>
              <a:path h="6433678" w="8578237">
                <a:moveTo>
                  <a:pt x="0" y="0"/>
                </a:moveTo>
                <a:lnTo>
                  <a:pt x="8578237" y="0"/>
                </a:lnTo>
                <a:lnTo>
                  <a:pt x="8578237" y="6433678"/>
                </a:lnTo>
                <a:lnTo>
                  <a:pt x="0" y="64336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8471" y="3650030"/>
            <a:ext cx="7973413" cy="3946839"/>
          </a:xfrm>
          <a:custGeom>
            <a:avLst/>
            <a:gdLst/>
            <a:ahLst/>
            <a:cxnLst/>
            <a:rect r="r" b="b" t="t" l="l"/>
            <a:pathLst>
              <a:path h="3946839" w="7973413">
                <a:moveTo>
                  <a:pt x="0" y="0"/>
                </a:moveTo>
                <a:lnTo>
                  <a:pt x="7973413" y="0"/>
                </a:lnTo>
                <a:lnTo>
                  <a:pt x="7973413" y="3946839"/>
                </a:lnTo>
                <a:lnTo>
                  <a:pt x="0" y="3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80531" y="794239"/>
            <a:ext cx="10841188" cy="61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Protocol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97154" y="310996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9241" y="812092"/>
            <a:ext cx="882500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Agent-to-Agent Protocols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5704" y="2307810"/>
            <a:ext cx="15017084" cy="576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A2A (Agent2Agent):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เริ่มโดย Google เมษายน 2025 ให้ AI agent ต่างระบบต่างแพลตฟอร์มคุยกันได้ — แกน "แนวนอน" คือ agent คุยกับ agentGoogle บริจาคโปรโตคอล SDK และเครื่องมือทั้งหมด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ให้ Linux Foundation เมื่อ 23 มิถุนายน 2025 โดยมี AWS, Cisco, Google, Microsoft, Salesforce, SAP และ ServiceNow เป็นผู้ก่อตั้งร่วม</a:t>
            </a: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ค้นหากันด้วย Agent Card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ไฟล์ JSON ที่ /.well-known/agent.json บอกชื่อ URL เวอร์ชัน และความสามารถของ agent นั้น</a:t>
            </a:r>
          </a:p>
          <a:p>
            <a:pPr algn="l">
              <a:lnSpc>
                <a:spcPts val="4194"/>
              </a:lnSpc>
            </a:pPr>
          </a:p>
          <a:p>
            <a:pPr algn="l" marL="646876" indent="-323438" lvl="1">
              <a:lnSpc>
                <a:spcPts val="4194"/>
              </a:lnSpc>
              <a:buFont typeface="Arial"/>
              <a:buChar char="•"/>
            </a:pPr>
            <a:r>
              <a:rPr lang="en-US" b="true" sz="29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ACP (Agent Communication Protocol): </a:t>
            </a: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จาก IBM Research ใช้กับแพลตฟอร์ม BeeAIควบรวมเข้ากับ A2A ภายใต้ Linux Foundation ตั้งแต่สิงหาคม 2025 ปัจจุบันไม่พัฒนาต่อในฐานะโปรโตคอลแยก สร้างระบบใหม่ให้ใช้ A2A</a:t>
            </a:r>
          </a:p>
          <a:p>
            <a:pPr algn="l">
              <a:lnSpc>
                <a:spcPts val="4194"/>
              </a:lnSpc>
            </a:pP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22120" y="2166135"/>
            <a:ext cx="7158010" cy="7451409"/>
          </a:xfrm>
          <a:custGeom>
            <a:avLst/>
            <a:gdLst/>
            <a:ahLst/>
            <a:cxnLst/>
            <a:rect r="r" b="b" t="t" l="l"/>
            <a:pathLst>
              <a:path h="7451409" w="7158010">
                <a:moveTo>
                  <a:pt x="0" y="0"/>
                </a:moveTo>
                <a:lnTo>
                  <a:pt x="7158010" y="0"/>
                </a:lnTo>
                <a:lnTo>
                  <a:pt x="7158010" y="7451410"/>
                </a:lnTo>
                <a:lnTo>
                  <a:pt x="0" y="745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Agent-to-Agent Protocols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112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2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2.1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MCP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Server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04669" y="2685811"/>
            <a:ext cx="11656752" cy="5834718"/>
          </a:xfrm>
          <a:custGeom>
            <a:avLst/>
            <a:gdLst/>
            <a:ahLst/>
            <a:cxnLst/>
            <a:rect r="r" b="b" t="t" l="l"/>
            <a:pathLst>
              <a:path h="5834718" w="11656752">
                <a:moveTo>
                  <a:pt x="0" y="0"/>
                </a:moveTo>
                <a:lnTo>
                  <a:pt x="11656752" y="0"/>
                </a:lnTo>
                <a:lnTo>
                  <a:pt x="11656752" y="5834719"/>
                </a:lnTo>
                <a:lnTo>
                  <a:pt x="0" y="5834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Module 2.1 : MCP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36285" y="4041137"/>
            <a:ext cx="10415429" cy="2204726"/>
          </a:xfrm>
          <a:custGeom>
            <a:avLst/>
            <a:gdLst/>
            <a:ahLst/>
            <a:cxnLst/>
            <a:rect r="r" b="b" t="t" l="l"/>
            <a:pathLst>
              <a:path h="2204726" w="10415429">
                <a:moveTo>
                  <a:pt x="0" y="0"/>
                </a:moveTo>
                <a:lnTo>
                  <a:pt x="10415430" y="0"/>
                </a:lnTo>
                <a:lnTo>
                  <a:pt x="10415430" y="2204726"/>
                </a:lnTo>
                <a:lnTo>
                  <a:pt x="0" y="2204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2.1 : Key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35856" y="2100045"/>
            <a:ext cx="3220393" cy="86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/mcp/utils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521" y="7526947"/>
            <a:ext cx="1781247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curl -X POST &lt;worker_url&gt;/mcp/utils -H "content-type: application/json" -H "Authorization: Bearer &lt;MCP_ACCESS_TOKEN&gt;" -d "{\"jsonrpc\":\"2.0\",\"id\":1,\"method\":\"initialize\",\"params\":{\"protocolVersion\":\"2025-03-26\",\"capabilities\":{},\"clientInfo\":{\"name\":\"curl\",\"version\":\"0\"}}}"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0564" y="3685657"/>
            <a:ext cx="5884738" cy="3562072"/>
          </a:xfrm>
          <a:custGeom>
            <a:avLst/>
            <a:gdLst/>
            <a:ahLst/>
            <a:cxnLst/>
            <a:rect r="r" b="b" t="t" l="l"/>
            <a:pathLst>
              <a:path h="3562072" w="5884738">
                <a:moveTo>
                  <a:pt x="0" y="0"/>
                </a:moveTo>
                <a:lnTo>
                  <a:pt x="5884738" y="0"/>
                </a:lnTo>
                <a:lnTo>
                  <a:pt x="5884738" y="3562072"/>
                </a:lnTo>
                <a:lnTo>
                  <a:pt x="0" y="3562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33529" y="4272958"/>
            <a:ext cx="11462923" cy="2618784"/>
          </a:xfrm>
          <a:custGeom>
            <a:avLst/>
            <a:gdLst/>
            <a:ahLst/>
            <a:cxnLst/>
            <a:rect r="r" b="b" t="t" l="l"/>
            <a:pathLst>
              <a:path h="2618784" w="11462923">
                <a:moveTo>
                  <a:pt x="0" y="0"/>
                </a:moveTo>
                <a:lnTo>
                  <a:pt x="11462924" y="0"/>
                </a:lnTo>
                <a:lnTo>
                  <a:pt x="11462924" y="2618784"/>
                </a:lnTo>
                <a:lnTo>
                  <a:pt x="0" y="2618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32453" y="7108443"/>
            <a:ext cx="10573168" cy="2854217"/>
          </a:xfrm>
          <a:custGeom>
            <a:avLst/>
            <a:gdLst/>
            <a:ahLst/>
            <a:cxnLst/>
            <a:rect r="r" b="b" t="t" l="l"/>
            <a:pathLst>
              <a:path h="2854217" w="10573168">
                <a:moveTo>
                  <a:pt x="0" y="0"/>
                </a:moveTo>
                <a:lnTo>
                  <a:pt x="10573168" y="0"/>
                </a:lnTo>
                <a:lnTo>
                  <a:pt x="10573168" y="2854217"/>
                </a:lnTo>
                <a:lnTo>
                  <a:pt x="0" y="28542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2.1 : MCP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3529" y="8160976"/>
            <a:ext cx="7216910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"headers": {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        "Authorization": "Bearer &lt;token&gt;"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      },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47405" y="2977758"/>
            <a:ext cx="6796595" cy="5748307"/>
          </a:xfrm>
          <a:custGeom>
            <a:avLst/>
            <a:gdLst/>
            <a:ahLst/>
            <a:cxnLst/>
            <a:rect r="r" b="b" t="t" l="l"/>
            <a:pathLst>
              <a:path h="5748307" w="6796595">
                <a:moveTo>
                  <a:pt x="0" y="0"/>
                </a:moveTo>
                <a:lnTo>
                  <a:pt x="6796595" y="0"/>
                </a:lnTo>
                <a:lnTo>
                  <a:pt x="6796595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2.1 : MCP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1476" y="5165702"/>
            <a:ext cx="741804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ช่วยคำนวณ `1234 * 5678` โดยใช้ tool `calculator` เท่านั้น ห้ามคำนวณเอง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23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2.2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Calendar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04669" y="2685811"/>
            <a:ext cx="11656752" cy="5834718"/>
          </a:xfrm>
          <a:custGeom>
            <a:avLst/>
            <a:gdLst/>
            <a:ahLst/>
            <a:cxnLst/>
            <a:rect r="r" b="b" t="t" l="l"/>
            <a:pathLst>
              <a:path h="5834718" w="11656752">
                <a:moveTo>
                  <a:pt x="0" y="0"/>
                </a:moveTo>
                <a:lnTo>
                  <a:pt x="11656752" y="0"/>
                </a:lnTo>
                <a:lnTo>
                  <a:pt x="11656752" y="5834719"/>
                </a:lnTo>
                <a:lnTo>
                  <a:pt x="0" y="5834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 Module 2.1 : MCP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36285" y="4041137"/>
            <a:ext cx="10415429" cy="2204726"/>
          </a:xfrm>
          <a:custGeom>
            <a:avLst/>
            <a:gdLst/>
            <a:ahLst/>
            <a:cxnLst/>
            <a:rect r="r" b="b" t="t" l="l"/>
            <a:pathLst>
              <a:path h="2204726" w="10415429">
                <a:moveTo>
                  <a:pt x="0" y="0"/>
                </a:moveTo>
                <a:lnTo>
                  <a:pt x="10415430" y="0"/>
                </a:lnTo>
                <a:lnTo>
                  <a:pt x="10415430" y="2204726"/>
                </a:lnTo>
                <a:lnTo>
                  <a:pt x="0" y="2204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Module 2.1 : Key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08696" y="2185770"/>
            <a:ext cx="127471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/mcp/utils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521" y="7526947"/>
            <a:ext cx="1781247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curl -X POST &lt;worker_url&gt;/mcp/utils -H "content-type: application/json" -H "Authorization: Bearer &lt;MCP_ACCESS_TOKEN&gt;" -d "{\"jsonrpc\":\"2.0\",\"id\":1,\"method\":\"initialize\",\"params\":{\"protocolVersion\":\"2025-03-26\",\"capabilities\":{},\"clientInfo\":{\"name\":\"curl\",\"version\":\"0\"}}}"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01885" y="2040084"/>
            <a:ext cx="13084230" cy="6206832"/>
          </a:xfrm>
          <a:custGeom>
            <a:avLst/>
            <a:gdLst/>
            <a:ahLst/>
            <a:cxnLst/>
            <a:rect r="r" b="b" t="t" l="l"/>
            <a:pathLst>
              <a:path h="6206832" w="13084230">
                <a:moveTo>
                  <a:pt x="0" y="0"/>
                </a:moveTo>
                <a:lnTo>
                  <a:pt x="13084230" y="0"/>
                </a:lnTo>
                <a:lnTo>
                  <a:pt x="13084230" y="6206832"/>
                </a:lnTo>
                <a:lnTo>
                  <a:pt x="0" y="6206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59229" y="2964923"/>
            <a:ext cx="13084230" cy="5593508"/>
          </a:xfrm>
          <a:custGeom>
            <a:avLst/>
            <a:gdLst/>
            <a:ahLst/>
            <a:cxnLst/>
            <a:rect r="r" b="b" t="t" l="l"/>
            <a:pathLst>
              <a:path h="5593508" w="13084230">
                <a:moveTo>
                  <a:pt x="0" y="0"/>
                </a:moveTo>
                <a:lnTo>
                  <a:pt x="13084230" y="0"/>
                </a:lnTo>
                <a:lnTo>
                  <a:pt x="13084230" y="5593509"/>
                </a:lnTo>
                <a:lnTo>
                  <a:pt x="0" y="55935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 : Home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59010" y="2780247"/>
            <a:ext cx="13084230" cy="6223187"/>
          </a:xfrm>
          <a:custGeom>
            <a:avLst/>
            <a:gdLst/>
            <a:ahLst/>
            <a:cxnLst/>
            <a:rect r="r" b="b" t="t" l="l"/>
            <a:pathLst>
              <a:path h="6223187" w="13084230">
                <a:moveTo>
                  <a:pt x="0" y="0"/>
                </a:moveTo>
                <a:lnTo>
                  <a:pt x="13084230" y="0"/>
                </a:lnTo>
                <a:lnTo>
                  <a:pt x="13084230" y="6223187"/>
                </a:lnTo>
                <a:lnTo>
                  <a:pt x="0" y="6223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 : API &amp; Services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01885" y="2170926"/>
            <a:ext cx="13084230" cy="5945147"/>
          </a:xfrm>
          <a:custGeom>
            <a:avLst/>
            <a:gdLst/>
            <a:ahLst/>
            <a:cxnLst/>
            <a:rect r="r" b="b" t="t" l="l"/>
            <a:pathLst>
              <a:path h="5945147" w="13084230">
                <a:moveTo>
                  <a:pt x="0" y="0"/>
                </a:moveTo>
                <a:lnTo>
                  <a:pt x="13084230" y="0"/>
                </a:lnTo>
                <a:lnTo>
                  <a:pt x="13084230" y="5945148"/>
                </a:lnTo>
                <a:lnTo>
                  <a:pt x="0" y="5945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 : Enable API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86034" y="2493543"/>
            <a:ext cx="13084230" cy="5838838"/>
          </a:xfrm>
          <a:custGeom>
            <a:avLst/>
            <a:gdLst/>
            <a:ahLst/>
            <a:cxnLst/>
            <a:rect r="r" b="b" t="t" l="l"/>
            <a:pathLst>
              <a:path h="5838838" w="13084230">
                <a:moveTo>
                  <a:pt x="0" y="0"/>
                </a:moveTo>
                <a:lnTo>
                  <a:pt x="13084230" y="0"/>
                </a:lnTo>
                <a:lnTo>
                  <a:pt x="13084230" y="5838838"/>
                </a:lnTo>
                <a:lnTo>
                  <a:pt x="0" y="5838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 : OAuth (First time)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2015" y="2409574"/>
            <a:ext cx="5832865" cy="6091693"/>
          </a:xfrm>
          <a:custGeom>
            <a:avLst/>
            <a:gdLst/>
            <a:ahLst/>
            <a:cxnLst/>
            <a:rect r="r" b="b" t="t" l="l"/>
            <a:pathLst>
              <a:path h="6091693" w="5832865">
                <a:moveTo>
                  <a:pt x="0" y="0"/>
                </a:moveTo>
                <a:lnTo>
                  <a:pt x="5832866" y="0"/>
                </a:lnTo>
                <a:lnTo>
                  <a:pt x="5832866" y="6091693"/>
                </a:lnTo>
                <a:lnTo>
                  <a:pt x="0" y="609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25005" y="2409574"/>
            <a:ext cx="4855247" cy="6195226"/>
          </a:xfrm>
          <a:custGeom>
            <a:avLst/>
            <a:gdLst/>
            <a:ahLst/>
            <a:cxnLst/>
            <a:rect r="r" b="b" t="t" l="l"/>
            <a:pathLst>
              <a:path h="6195226" w="4855247">
                <a:moveTo>
                  <a:pt x="0" y="0"/>
                </a:moveTo>
                <a:lnTo>
                  <a:pt x="4855247" y="0"/>
                </a:lnTo>
                <a:lnTo>
                  <a:pt x="4855247" y="6195225"/>
                </a:lnTo>
                <a:lnTo>
                  <a:pt x="0" y="6195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45932" y="2409574"/>
            <a:ext cx="3872532" cy="5539872"/>
          </a:xfrm>
          <a:custGeom>
            <a:avLst/>
            <a:gdLst/>
            <a:ahLst/>
            <a:cxnLst/>
            <a:rect r="r" b="b" t="t" l="l"/>
            <a:pathLst>
              <a:path h="5539872" w="3872532">
                <a:moveTo>
                  <a:pt x="0" y="0"/>
                </a:moveTo>
                <a:lnTo>
                  <a:pt x="3872532" y="0"/>
                </a:lnTo>
                <a:lnTo>
                  <a:pt x="3872532" y="5539872"/>
                </a:lnTo>
                <a:lnTo>
                  <a:pt x="0" y="5539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 : Create Branding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8694" y="2051733"/>
            <a:ext cx="7593326" cy="2026469"/>
          </a:xfrm>
          <a:custGeom>
            <a:avLst/>
            <a:gdLst/>
            <a:ahLst/>
            <a:cxnLst/>
            <a:rect r="r" b="b" t="t" l="l"/>
            <a:pathLst>
              <a:path h="2026469" w="7593326">
                <a:moveTo>
                  <a:pt x="0" y="0"/>
                </a:moveTo>
                <a:lnTo>
                  <a:pt x="7593326" y="0"/>
                </a:lnTo>
                <a:lnTo>
                  <a:pt x="7593326" y="2026469"/>
                </a:lnTo>
                <a:lnTo>
                  <a:pt x="0" y="2026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38607" y="3165359"/>
            <a:ext cx="5080201" cy="5921770"/>
          </a:xfrm>
          <a:custGeom>
            <a:avLst/>
            <a:gdLst/>
            <a:ahLst/>
            <a:cxnLst/>
            <a:rect r="r" b="b" t="t" l="l"/>
            <a:pathLst>
              <a:path h="5921770" w="5080201">
                <a:moveTo>
                  <a:pt x="0" y="0"/>
                </a:moveTo>
                <a:lnTo>
                  <a:pt x="5080201" y="0"/>
                </a:lnTo>
                <a:lnTo>
                  <a:pt x="5080201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27863" y="4192893"/>
            <a:ext cx="4514157" cy="5640655"/>
          </a:xfrm>
          <a:custGeom>
            <a:avLst/>
            <a:gdLst/>
            <a:ahLst/>
            <a:cxnLst/>
            <a:rect r="r" b="b" t="t" l="l"/>
            <a:pathLst>
              <a:path h="5640655" w="4514157">
                <a:moveTo>
                  <a:pt x="0" y="0"/>
                </a:moveTo>
                <a:lnTo>
                  <a:pt x="4514157" y="0"/>
                </a:lnTo>
                <a:lnTo>
                  <a:pt x="4514157" y="5640656"/>
                </a:lnTo>
                <a:lnTo>
                  <a:pt x="0" y="5640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Cloud: Create OAuth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8379" y="2391829"/>
            <a:ext cx="4769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&lt;WORKER_URL&gt;/oauth/google/callback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98236" y="2990405"/>
            <a:ext cx="10979652" cy="3925773"/>
          </a:xfrm>
          <a:custGeom>
            <a:avLst/>
            <a:gdLst/>
            <a:ahLst/>
            <a:cxnLst/>
            <a:rect r="r" b="b" t="t" l="l"/>
            <a:pathLst>
              <a:path h="3925773" w="10979652">
                <a:moveTo>
                  <a:pt x="0" y="0"/>
                </a:moveTo>
                <a:lnTo>
                  <a:pt x="10979652" y="0"/>
                </a:lnTo>
                <a:lnTo>
                  <a:pt x="10979652" y="3925773"/>
                </a:lnTo>
                <a:lnTo>
                  <a:pt x="0" y="3925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Cloud: Set Client ID, Secret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4486" y="2784724"/>
            <a:ext cx="9605377" cy="6214231"/>
          </a:xfrm>
          <a:custGeom>
            <a:avLst/>
            <a:gdLst/>
            <a:ahLst/>
            <a:cxnLst/>
            <a:rect r="r" b="b" t="t" l="l"/>
            <a:pathLst>
              <a:path h="6214231" w="9605377">
                <a:moveTo>
                  <a:pt x="0" y="0"/>
                </a:moveTo>
                <a:lnTo>
                  <a:pt x="9605377" y="0"/>
                </a:lnTo>
                <a:lnTo>
                  <a:pt x="9605377" y="6214232"/>
                </a:lnTo>
                <a:lnTo>
                  <a:pt x="0" y="6214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99863" y="5389240"/>
            <a:ext cx="8416725" cy="4263840"/>
          </a:xfrm>
          <a:custGeom>
            <a:avLst/>
            <a:gdLst/>
            <a:ahLst/>
            <a:cxnLst/>
            <a:rect r="r" b="b" t="t" l="l"/>
            <a:pathLst>
              <a:path h="4263840" w="8416725">
                <a:moveTo>
                  <a:pt x="0" y="0"/>
                </a:moveTo>
                <a:lnTo>
                  <a:pt x="8416725" y="0"/>
                </a:lnTo>
                <a:lnTo>
                  <a:pt x="8416725" y="4263840"/>
                </a:lnTo>
                <a:lnTo>
                  <a:pt x="0" y="4263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861" t="-17981" r="-12227" b="-1723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Cloud: Create OAuth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66850" y="4198809"/>
            <a:ext cx="429875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&lt;WORKER_URL&gt;/oauth/google/start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54857" y="2409574"/>
            <a:ext cx="7378286" cy="6492005"/>
          </a:xfrm>
          <a:custGeom>
            <a:avLst/>
            <a:gdLst/>
            <a:ahLst/>
            <a:cxnLst/>
            <a:rect r="r" b="b" t="t" l="l"/>
            <a:pathLst>
              <a:path h="6492005" w="7378286">
                <a:moveTo>
                  <a:pt x="0" y="0"/>
                </a:moveTo>
                <a:lnTo>
                  <a:pt x="7378286" y="0"/>
                </a:lnTo>
                <a:lnTo>
                  <a:pt x="7378286" y="6492005"/>
                </a:lnTo>
                <a:lnTo>
                  <a:pt x="0" y="64920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Google Calendar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3210" y="2512056"/>
            <a:ext cx="12751680" cy="6499243"/>
          </a:xfrm>
          <a:custGeom>
            <a:avLst/>
            <a:gdLst/>
            <a:ahLst/>
            <a:cxnLst/>
            <a:rect r="r" b="b" t="t" l="l"/>
            <a:pathLst>
              <a:path h="6499243" w="12751680">
                <a:moveTo>
                  <a:pt x="0" y="0"/>
                </a:moveTo>
                <a:lnTo>
                  <a:pt x="12751680" y="0"/>
                </a:lnTo>
                <a:lnTo>
                  <a:pt x="12751680" y="6499243"/>
                </a:lnTo>
                <a:lnTo>
                  <a:pt x="0" y="6499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61612" y="3608621"/>
            <a:ext cx="4699583" cy="4306114"/>
          </a:xfrm>
          <a:custGeom>
            <a:avLst/>
            <a:gdLst/>
            <a:ahLst/>
            <a:cxnLst/>
            <a:rect r="r" b="b" t="t" l="l"/>
            <a:pathLst>
              <a:path h="4306114" w="4699583">
                <a:moveTo>
                  <a:pt x="0" y="0"/>
                </a:moveTo>
                <a:lnTo>
                  <a:pt x="4699582" y="0"/>
                </a:lnTo>
                <a:lnTo>
                  <a:pt x="4699582" y="4306113"/>
                </a:lnTo>
                <a:lnTo>
                  <a:pt x="0" y="43061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766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Google Calendar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9713" y="9064976"/>
            <a:ext cx="285377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/mcp/google-calendar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23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2.3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2853" y="2105194"/>
            <a:ext cx="10808158" cy="6552133"/>
          </a:xfrm>
          <a:custGeom>
            <a:avLst/>
            <a:gdLst/>
            <a:ahLst/>
            <a:cxnLst/>
            <a:rect r="r" b="b" t="t" l="l"/>
            <a:pathLst>
              <a:path h="6552133" w="10808158">
                <a:moveTo>
                  <a:pt x="0" y="0"/>
                </a:moveTo>
                <a:lnTo>
                  <a:pt x="10808158" y="0"/>
                </a:lnTo>
                <a:lnTo>
                  <a:pt x="10808158" y="6552133"/>
                </a:lnTo>
                <a:lnTo>
                  <a:pt x="0" y="655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00944" y="2916428"/>
            <a:ext cx="14272025" cy="5188663"/>
          </a:xfrm>
          <a:custGeom>
            <a:avLst/>
            <a:gdLst/>
            <a:ahLst/>
            <a:cxnLst/>
            <a:rect r="r" b="b" t="t" l="l"/>
            <a:pathLst>
              <a:path h="5188663" w="14272025">
                <a:moveTo>
                  <a:pt x="0" y="0"/>
                </a:moveTo>
                <a:lnTo>
                  <a:pt x="14272025" y="0"/>
                </a:lnTo>
                <a:lnTo>
                  <a:pt x="14272025" y="5188663"/>
                </a:lnTo>
                <a:lnTo>
                  <a:pt x="0" y="51886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 : BotFather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03420" y="2970694"/>
            <a:ext cx="10415429" cy="4979640"/>
          </a:xfrm>
          <a:custGeom>
            <a:avLst/>
            <a:gdLst/>
            <a:ahLst/>
            <a:cxnLst/>
            <a:rect r="r" b="b" t="t" l="l"/>
            <a:pathLst>
              <a:path h="4979640" w="10415429">
                <a:moveTo>
                  <a:pt x="0" y="0"/>
                </a:moveTo>
                <a:lnTo>
                  <a:pt x="10415430" y="0"/>
                </a:lnTo>
                <a:lnTo>
                  <a:pt x="10415430" y="4979640"/>
                </a:lnTo>
                <a:lnTo>
                  <a:pt x="0" y="4979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 : secret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69128" y="7237730"/>
            <a:ext cx="9953848" cy="1461115"/>
          </a:xfrm>
          <a:custGeom>
            <a:avLst/>
            <a:gdLst/>
            <a:ahLst/>
            <a:cxnLst/>
            <a:rect r="r" b="b" t="t" l="l"/>
            <a:pathLst>
              <a:path h="1461115" w="9953848">
                <a:moveTo>
                  <a:pt x="0" y="0"/>
                </a:moveTo>
                <a:lnTo>
                  <a:pt x="9953848" y="0"/>
                </a:lnTo>
                <a:lnTo>
                  <a:pt x="9953848" y="1461115"/>
                </a:lnTo>
                <a:lnTo>
                  <a:pt x="0" y="1461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 : Set Webhook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468370"/>
            <a:ext cx="17259300" cy="242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api.telegram.org/bot%3CTELEGRAM_BOT_TOKEN%3E/setWebhook?url=%3CWORKER_URL%3E/telegram/webhook&amp;secret_token=%3CTELEGRAM_WEBHOOK_SECRET%3E"/>
              </a:rPr>
              <a:t>https://api.telegram.org/bot&lt;TELEGRAM_BOT_TOKEN&gt;/setWebhook?url=&lt;WORKER_URL&gt;/telegram/webhook&amp;secret_token=&lt;TELEGRAM_WEBHOOK_SECRET&gt;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6772" y="2514025"/>
            <a:ext cx="8699728" cy="6495305"/>
          </a:xfrm>
          <a:custGeom>
            <a:avLst/>
            <a:gdLst/>
            <a:ahLst/>
            <a:cxnLst/>
            <a:rect r="r" b="b" t="t" l="l"/>
            <a:pathLst>
              <a:path h="6495305" w="8699728">
                <a:moveTo>
                  <a:pt x="0" y="0"/>
                </a:moveTo>
                <a:lnTo>
                  <a:pt x="8699728" y="0"/>
                </a:lnTo>
                <a:lnTo>
                  <a:pt x="8699728" y="6495305"/>
                </a:lnTo>
                <a:lnTo>
                  <a:pt x="0" y="649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46375" y="2500115"/>
            <a:ext cx="6218034" cy="6523124"/>
          </a:xfrm>
          <a:custGeom>
            <a:avLst/>
            <a:gdLst/>
            <a:ahLst/>
            <a:cxnLst/>
            <a:rect r="r" b="b" t="t" l="l"/>
            <a:pathLst>
              <a:path h="6523124" w="6218034">
                <a:moveTo>
                  <a:pt x="0" y="0"/>
                </a:moveTo>
                <a:lnTo>
                  <a:pt x="6218034" y="0"/>
                </a:lnTo>
                <a:lnTo>
                  <a:pt x="6218034" y="6523125"/>
                </a:lnTo>
                <a:lnTo>
                  <a:pt x="0" y="652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 : Chat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09263" y="4717280"/>
            <a:ext cx="11379023" cy="4910221"/>
          </a:xfrm>
          <a:custGeom>
            <a:avLst/>
            <a:gdLst/>
            <a:ahLst/>
            <a:cxnLst/>
            <a:rect r="r" b="b" t="t" l="l"/>
            <a:pathLst>
              <a:path h="4910221" w="11379023">
                <a:moveTo>
                  <a:pt x="0" y="0"/>
                </a:moveTo>
                <a:lnTo>
                  <a:pt x="11379023" y="0"/>
                </a:lnTo>
                <a:lnTo>
                  <a:pt x="11379023" y="4910221"/>
                </a:lnTo>
                <a:lnTo>
                  <a:pt x="0" y="4910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 : 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350" y="2577465"/>
            <a:ext cx="1777365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ตั้ง allowlist chatId ของตัวเองใน webhook.ts (เช็ค message.chat.id หรือ message.from.id ก่อนเรียก runChatTurn, ถ้าไม่ตรงให้ตอบปฏิเสธหรือเงียบไปเลย)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หรือใน BotFather ตั้ง /setjoingroups ปิด + ไม่แชร์ username ให้ใครเพิ่ม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ลบ Bot ทิ้ง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44387" t="0" r="12857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5506" y="3861852"/>
            <a:ext cx="8324093" cy="23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Extra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Text To SQL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451840"/>
            <a:ext cx="914010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Text-to-SQL — คุยกับ Database ด้วยภาษาธรรมดา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6438" y="2352410"/>
            <a:ext cx="5133337" cy="6413497"/>
            <a:chOff x="0" y="0"/>
            <a:chExt cx="6844449" cy="85513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6827519" cy="8534400"/>
            </a:xfrm>
            <a:custGeom>
              <a:avLst/>
              <a:gdLst/>
              <a:ahLst/>
              <a:cxnLst/>
              <a:rect r="r" b="b" t="t" l="l"/>
              <a:pathLst>
                <a:path h="853440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44538" cy="8551418"/>
            </a:xfrm>
            <a:custGeom>
              <a:avLst/>
              <a:gdLst/>
              <a:ahLst/>
              <a:cxnLst/>
              <a:rect r="r" b="b" t="t" l="l"/>
              <a:pathLst>
                <a:path h="855141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8542909"/>
                  </a:lnTo>
                  <a:cubicBezTo>
                    <a:pt x="6844538" y="8547608"/>
                    <a:pt x="6840727" y="8551418"/>
                    <a:pt x="6836028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6836028" y="8534400"/>
                  </a:lnTo>
                  <a:lnTo>
                    <a:pt x="6836028" y="8542909"/>
                  </a:lnTo>
                  <a:lnTo>
                    <a:pt x="6827520" y="85429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20095" y="2346066"/>
            <a:ext cx="5146043" cy="939803"/>
            <a:chOff x="0" y="0"/>
            <a:chExt cx="686139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2792" y="2358763"/>
            <a:ext cx="5120640" cy="914400"/>
            <a:chOff x="0" y="0"/>
            <a:chExt cx="68275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682752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5672" y="3401179"/>
            <a:ext cx="4754880" cy="914400"/>
            <a:chOff x="0" y="0"/>
            <a:chExt cx="633984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398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E86A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 Ask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5672" y="4425307"/>
            <a:ext cx="4754880" cy="1371600"/>
            <a:chOff x="0" y="0"/>
            <a:chExt cx="633984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3398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Type your question in plain English or Thai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840735" y="4540626"/>
            <a:ext cx="574043" cy="135131"/>
            <a:chOff x="0" y="0"/>
            <a:chExt cx="765391" cy="1801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C4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5302" cy="180088"/>
            </a:xfrm>
            <a:custGeom>
              <a:avLst/>
              <a:gdLst/>
              <a:ahLst/>
              <a:cxnLst/>
              <a:rect r="r" b="b" t="t" l="l"/>
              <a:pathLst>
                <a:path h="180088" w="765302">
                  <a:moveTo>
                    <a:pt x="16891" y="0"/>
                  </a:moveTo>
                  <a:lnTo>
                    <a:pt x="748411" y="0"/>
                  </a:lnTo>
                  <a:cubicBezTo>
                    <a:pt x="757809" y="0"/>
                    <a:pt x="765302" y="7620"/>
                    <a:pt x="765302" y="16891"/>
                  </a:cubicBezTo>
                  <a:lnTo>
                    <a:pt x="765302" y="163195"/>
                  </a:lnTo>
                  <a:cubicBezTo>
                    <a:pt x="765302" y="172593"/>
                    <a:pt x="757682" y="180086"/>
                    <a:pt x="748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48411" y="146304"/>
                  </a:lnTo>
                  <a:lnTo>
                    <a:pt x="748411" y="163195"/>
                  </a:lnTo>
                  <a:lnTo>
                    <a:pt x="731520" y="163195"/>
                  </a:lnTo>
                  <a:lnTo>
                    <a:pt x="731520" y="16891"/>
                  </a:lnTo>
                  <a:lnTo>
                    <a:pt x="748411" y="16891"/>
                  </a:lnTo>
                  <a:lnTo>
                    <a:pt x="748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C4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95718" y="2352410"/>
            <a:ext cx="5133337" cy="6413497"/>
            <a:chOff x="0" y="0"/>
            <a:chExt cx="6844449" cy="85513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6827519" cy="8534400"/>
            </a:xfrm>
            <a:custGeom>
              <a:avLst/>
              <a:gdLst/>
              <a:ahLst/>
              <a:cxnLst/>
              <a:rect r="r" b="b" t="t" l="l"/>
              <a:pathLst>
                <a:path h="853440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44538" cy="8551418"/>
            </a:xfrm>
            <a:custGeom>
              <a:avLst/>
              <a:gdLst/>
              <a:ahLst/>
              <a:cxnLst/>
              <a:rect r="r" b="b" t="t" l="l"/>
              <a:pathLst>
                <a:path h="855141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8542909"/>
                  </a:lnTo>
                  <a:cubicBezTo>
                    <a:pt x="6844538" y="8547608"/>
                    <a:pt x="6840727" y="8551418"/>
                    <a:pt x="6836028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6836028" y="8534400"/>
                  </a:lnTo>
                  <a:lnTo>
                    <a:pt x="6836028" y="8542909"/>
                  </a:lnTo>
                  <a:lnTo>
                    <a:pt x="6827520" y="85429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89375" y="2346066"/>
            <a:ext cx="5146043" cy="939803"/>
            <a:chOff x="0" y="0"/>
            <a:chExt cx="6861391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02072" y="2358763"/>
            <a:ext cx="5120640" cy="914400"/>
            <a:chOff x="0" y="0"/>
            <a:chExt cx="682752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82752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84952" y="3401179"/>
            <a:ext cx="4754880" cy="914400"/>
            <a:chOff x="0" y="0"/>
            <a:chExt cx="633984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3398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Generates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84952" y="4425307"/>
            <a:ext cx="4754880" cy="1371600"/>
            <a:chOff x="0" y="0"/>
            <a:chExt cx="633984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3398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AI converts to SQL query automatically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10015" y="4540626"/>
            <a:ext cx="574043" cy="135131"/>
            <a:chOff x="0" y="0"/>
            <a:chExt cx="765391" cy="1801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3152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C4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5302" cy="180088"/>
            </a:xfrm>
            <a:custGeom>
              <a:avLst/>
              <a:gdLst/>
              <a:ahLst/>
              <a:cxnLst/>
              <a:rect r="r" b="b" t="t" l="l"/>
              <a:pathLst>
                <a:path h="180088" w="765302">
                  <a:moveTo>
                    <a:pt x="16891" y="0"/>
                  </a:moveTo>
                  <a:lnTo>
                    <a:pt x="748411" y="0"/>
                  </a:lnTo>
                  <a:cubicBezTo>
                    <a:pt x="757809" y="0"/>
                    <a:pt x="765302" y="7620"/>
                    <a:pt x="765302" y="16891"/>
                  </a:cubicBezTo>
                  <a:lnTo>
                    <a:pt x="765302" y="163195"/>
                  </a:lnTo>
                  <a:cubicBezTo>
                    <a:pt x="765302" y="172593"/>
                    <a:pt x="757682" y="180086"/>
                    <a:pt x="748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48411" y="146304"/>
                  </a:lnTo>
                  <a:lnTo>
                    <a:pt x="748411" y="163195"/>
                  </a:lnTo>
                  <a:lnTo>
                    <a:pt x="731520" y="163195"/>
                  </a:lnTo>
                  <a:lnTo>
                    <a:pt x="731520" y="16891"/>
                  </a:lnTo>
                  <a:lnTo>
                    <a:pt x="748411" y="16891"/>
                  </a:lnTo>
                  <a:lnTo>
                    <a:pt x="748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C4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64998" y="2352410"/>
            <a:ext cx="5133337" cy="6413497"/>
            <a:chOff x="0" y="0"/>
            <a:chExt cx="6844449" cy="85513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6827519" cy="8534400"/>
            </a:xfrm>
            <a:custGeom>
              <a:avLst/>
              <a:gdLst/>
              <a:ahLst/>
              <a:cxnLst/>
              <a:rect r="r" b="b" t="t" l="l"/>
              <a:pathLst>
                <a:path h="853440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44538" cy="8551418"/>
            </a:xfrm>
            <a:custGeom>
              <a:avLst/>
              <a:gdLst/>
              <a:ahLst/>
              <a:cxnLst/>
              <a:rect r="r" b="b" t="t" l="l"/>
              <a:pathLst>
                <a:path h="855141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8542909"/>
                  </a:lnTo>
                  <a:cubicBezTo>
                    <a:pt x="6844538" y="8547608"/>
                    <a:pt x="6840727" y="8551418"/>
                    <a:pt x="6836028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6836028" y="8534400"/>
                  </a:lnTo>
                  <a:lnTo>
                    <a:pt x="6836028" y="8542909"/>
                  </a:lnTo>
                  <a:lnTo>
                    <a:pt x="6827520" y="85429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58655" y="2346066"/>
            <a:ext cx="5146043" cy="939803"/>
            <a:chOff x="0" y="0"/>
            <a:chExt cx="6861391" cy="1253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071352" y="2358763"/>
            <a:ext cx="5120640" cy="914400"/>
            <a:chOff x="0" y="0"/>
            <a:chExt cx="682752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682752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54232" y="3401179"/>
            <a:ext cx="4754880" cy="914400"/>
            <a:chOff x="0" y="0"/>
            <a:chExt cx="633984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63398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7AE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Return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254232" y="4425307"/>
            <a:ext cx="4754880" cy="1371600"/>
            <a:chOff x="0" y="0"/>
            <a:chExt cx="6339840" cy="182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39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63398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Data returned as table, chart, or insight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2628" y="6189080"/>
            <a:ext cx="16845277" cy="3403597"/>
            <a:chOff x="0" y="0"/>
            <a:chExt cx="22460369" cy="45381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3589" y="13589"/>
              <a:ext cx="224332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EAF4F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460458" cy="4538218"/>
            </a:xfrm>
            <a:custGeom>
              <a:avLst/>
              <a:gdLst/>
              <a:ahLst/>
              <a:cxnLst/>
              <a:rect r="r" b="b" t="t" l="l"/>
              <a:pathLst>
                <a:path h="4538218" w="22460458">
                  <a:moveTo>
                    <a:pt x="13589" y="0"/>
                  </a:moveTo>
                  <a:lnTo>
                    <a:pt x="22446869" y="0"/>
                  </a:lnTo>
                  <a:cubicBezTo>
                    <a:pt x="22454363" y="0"/>
                    <a:pt x="22460458" y="6096"/>
                    <a:pt x="22460458" y="13589"/>
                  </a:cubicBezTo>
                  <a:lnTo>
                    <a:pt x="22460458" y="4524629"/>
                  </a:lnTo>
                  <a:cubicBezTo>
                    <a:pt x="22460458" y="4532122"/>
                    <a:pt x="22454363" y="4538218"/>
                    <a:pt x="22446869" y="4538218"/>
                  </a:cubicBezTo>
                  <a:lnTo>
                    <a:pt x="13589" y="4538218"/>
                  </a:lnTo>
                  <a:cubicBezTo>
                    <a:pt x="6096" y="4538218"/>
                    <a:pt x="0" y="4532122"/>
                    <a:pt x="0" y="4524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524629"/>
                  </a:lnTo>
                  <a:lnTo>
                    <a:pt x="13589" y="4524629"/>
                  </a:lnTo>
                  <a:lnTo>
                    <a:pt x="13589" y="4511040"/>
                  </a:lnTo>
                  <a:lnTo>
                    <a:pt x="22446869" y="4511040"/>
                  </a:lnTo>
                  <a:lnTo>
                    <a:pt x="22446869" y="4524629"/>
                  </a:lnTo>
                  <a:lnTo>
                    <a:pt x="22433280" y="4524629"/>
                  </a:lnTo>
                  <a:lnTo>
                    <a:pt x="22433280" y="13589"/>
                  </a:lnTo>
                  <a:lnTo>
                    <a:pt x="22446869" y="13589"/>
                  </a:lnTo>
                  <a:lnTo>
                    <a:pt x="22446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7112" y="6290683"/>
            <a:ext cx="2194560" cy="548640"/>
            <a:chOff x="0" y="0"/>
            <a:chExt cx="292608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[EXAMPLE]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29972" y="6747883"/>
            <a:ext cx="16093440" cy="731520"/>
            <a:chOff x="0" y="0"/>
            <a:chExt cx="21457920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2145792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 type: "Show me the top 10 customers by total purchase amount in 2024"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07112" y="7409046"/>
            <a:ext cx="16093440" cy="1188558"/>
            <a:chOff x="0" y="0"/>
            <a:chExt cx="21457920" cy="15847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457920" cy="1584744"/>
            </a:xfrm>
            <a:custGeom>
              <a:avLst/>
              <a:gdLst/>
              <a:ahLst/>
              <a:cxnLst/>
              <a:rect r="r" b="b" t="t" l="l"/>
              <a:pathLst>
                <a:path h="1584744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744"/>
                  </a:lnTo>
                  <a:lnTo>
                    <a:pt x="0" y="15847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519" r="0" b="-20614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1457920" cy="1594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E86A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AI generates: SELECT customer_id, SUM(amount) FROM orders WHERE YEAR(date)=2024 GROUP BY customer_id ORDER BY SUM(amount) DESC LIMIT 10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29972" y="8384278"/>
            <a:ext cx="16093440" cy="640080"/>
            <a:chOff x="0" y="0"/>
            <a:chExt cx="2145792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214579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27AE60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Result returned as formatted table with chart   -   no SQL knowledge needed</a:t>
              </a:r>
            </a:p>
          </p:txBody>
        </p:sp>
      </p:grp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73949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ตัวอย่างข้อมูล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2708" y="2315765"/>
            <a:ext cx="11435119" cy="794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มี 4 ตาราง: </a:t>
            </a:r>
          </a:p>
          <a:p>
            <a:pPr algn="l" marL="1209041" indent="-604520" lvl="1">
              <a:lnSpc>
                <a:spcPts val="7840"/>
              </a:lnSpc>
              <a:spcBef>
                <a:spcPct val="0"/>
              </a:spcBef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customers</a:t>
            </a:r>
          </a:p>
          <a:p>
            <a:pPr algn="l" marL="1209041" indent="-604520" lvl="1">
              <a:lnSpc>
                <a:spcPts val="7840"/>
              </a:lnSpc>
              <a:spcBef>
                <a:spcPct val="0"/>
              </a:spcBef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products</a:t>
            </a:r>
          </a:p>
          <a:p>
            <a:pPr algn="l" marL="1209041" indent="-604520" lvl="1">
              <a:lnSpc>
                <a:spcPts val="7840"/>
              </a:lnSpc>
              <a:spcBef>
                <a:spcPct val="0"/>
              </a:spcBef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order_items</a:t>
            </a:r>
          </a:p>
          <a:p>
            <a:pPr algn="l" marL="1209041" indent="-604520" lvl="1">
              <a:lnSpc>
                <a:spcPts val="7840"/>
              </a:lnSpc>
              <a:spcBef>
                <a:spcPct val="0"/>
              </a:spcBef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sales_orders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ลูกค้า 10 ราย สินค้า 12 รายการ 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ออเดอร์ 60 รายการ 4 ช่องทางการขาย</a:t>
            </a: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526596" y="3727729"/>
            <a:ext cx="8936237" cy="2391615"/>
          </a:xfrm>
          <a:custGeom>
            <a:avLst/>
            <a:gdLst/>
            <a:ahLst/>
            <a:cxnLst/>
            <a:rect r="r" b="b" t="t" l="l"/>
            <a:pathLst>
              <a:path h="2391615" w="8936237">
                <a:moveTo>
                  <a:pt x="0" y="0"/>
                </a:moveTo>
                <a:lnTo>
                  <a:pt x="8936237" y="0"/>
                </a:lnTo>
                <a:lnTo>
                  <a:pt x="8936237" y="2391615"/>
                </a:lnTo>
                <a:lnTo>
                  <a:pt x="0" y="239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5091" y="2688090"/>
            <a:ext cx="6666560" cy="5798460"/>
          </a:xfrm>
          <a:custGeom>
            <a:avLst/>
            <a:gdLst/>
            <a:ahLst/>
            <a:cxnLst/>
            <a:rect r="r" b="b" t="t" l="l"/>
            <a:pathLst>
              <a:path h="5798460" w="6666560">
                <a:moveTo>
                  <a:pt x="0" y="0"/>
                </a:moveTo>
                <a:lnTo>
                  <a:pt x="6666560" y="0"/>
                </a:lnTo>
                <a:lnTo>
                  <a:pt x="6666560" y="5798460"/>
                </a:lnTo>
                <a:lnTo>
                  <a:pt x="0" y="5798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59364" y="4181255"/>
            <a:ext cx="10478900" cy="2019743"/>
          </a:xfrm>
          <a:custGeom>
            <a:avLst/>
            <a:gdLst/>
            <a:ahLst/>
            <a:cxnLst/>
            <a:rect r="r" b="b" t="t" l="l"/>
            <a:pathLst>
              <a:path h="2019743" w="10478900">
                <a:moveTo>
                  <a:pt x="0" y="0"/>
                </a:moveTo>
                <a:lnTo>
                  <a:pt x="10478899" y="0"/>
                </a:lnTo>
                <a:lnTo>
                  <a:pt x="10478899" y="2019743"/>
                </a:lnTo>
                <a:lnTo>
                  <a:pt x="0" y="2019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73949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Database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0024" y="2500025"/>
            <a:ext cx="8583675" cy="6428202"/>
          </a:xfrm>
          <a:custGeom>
            <a:avLst/>
            <a:gdLst/>
            <a:ahLst/>
            <a:cxnLst/>
            <a:rect r="r" b="b" t="t" l="l"/>
            <a:pathLst>
              <a:path h="6428202" w="8583675">
                <a:moveTo>
                  <a:pt x="0" y="0"/>
                </a:moveTo>
                <a:lnTo>
                  <a:pt x="8583675" y="0"/>
                </a:lnTo>
                <a:lnTo>
                  <a:pt x="8583675" y="6428201"/>
                </a:lnTo>
                <a:lnTo>
                  <a:pt x="0" y="6428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32131" y="3896036"/>
            <a:ext cx="8241641" cy="2268710"/>
          </a:xfrm>
          <a:custGeom>
            <a:avLst/>
            <a:gdLst/>
            <a:ahLst/>
            <a:cxnLst/>
            <a:rect r="r" b="b" t="t" l="l"/>
            <a:pathLst>
              <a:path h="2268710" w="8241641">
                <a:moveTo>
                  <a:pt x="0" y="0"/>
                </a:moveTo>
                <a:lnTo>
                  <a:pt x="8241642" y="0"/>
                </a:lnTo>
                <a:lnTo>
                  <a:pt x="8241642" y="2268710"/>
                </a:lnTo>
                <a:lnTo>
                  <a:pt x="0" y="226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73949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Database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08593" y="2777542"/>
            <a:ext cx="6545461" cy="5778062"/>
          </a:xfrm>
          <a:custGeom>
            <a:avLst/>
            <a:gdLst/>
            <a:ahLst/>
            <a:cxnLst/>
            <a:rect r="r" b="b" t="t" l="l"/>
            <a:pathLst>
              <a:path h="5778062" w="6545461">
                <a:moveTo>
                  <a:pt x="0" y="0"/>
                </a:moveTo>
                <a:lnTo>
                  <a:pt x="6545461" y="0"/>
                </a:lnTo>
                <a:lnTo>
                  <a:pt x="6545461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63255" y="2649973"/>
            <a:ext cx="6306426" cy="5871866"/>
          </a:xfrm>
          <a:custGeom>
            <a:avLst/>
            <a:gdLst/>
            <a:ahLst/>
            <a:cxnLst/>
            <a:rect r="r" b="b" t="t" l="l"/>
            <a:pathLst>
              <a:path h="5871866" w="6306426">
                <a:moveTo>
                  <a:pt x="0" y="0"/>
                </a:moveTo>
                <a:lnTo>
                  <a:pt x="6306426" y="0"/>
                </a:lnTo>
                <a:lnTo>
                  <a:pt x="6306426" y="5871865"/>
                </a:lnTo>
                <a:lnTo>
                  <a:pt x="0" y="5871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73949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Database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27972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3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Workflow Automation with n8n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542" t="0" r="2854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6942" y="1028700"/>
            <a:ext cx="14695714" cy="8229600"/>
          </a:xfrm>
          <a:custGeom>
            <a:avLst/>
            <a:gdLst/>
            <a:ahLst/>
            <a:cxnLst/>
            <a:rect r="r" b="b" t="t" l="l"/>
            <a:pathLst>
              <a:path h="8229600" w="14695714">
                <a:moveTo>
                  <a:pt x="0" y="0"/>
                </a:moveTo>
                <a:lnTo>
                  <a:pt x="14695714" y="0"/>
                </a:lnTo>
                <a:lnTo>
                  <a:pt x="146957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0224" y="922730"/>
            <a:ext cx="14260211" cy="8074844"/>
          </a:xfrm>
          <a:custGeom>
            <a:avLst/>
            <a:gdLst/>
            <a:ahLst/>
            <a:cxnLst/>
            <a:rect r="r" b="b" t="t" l="l"/>
            <a:pathLst>
              <a:path h="8074844" w="14260211">
                <a:moveTo>
                  <a:pt x="0" y="0"/>
                </a:moveTo>
                <a:lnTo>
                  <a:pt x="14260211" y="0"/>
                </a:lnTo>
                <a:lnTo>
                  <a:pt x="14260211" y="8074844"/>
                </a:lnTo>
                <a:lnTo>
                  <a:pt x="0" y="8074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45598" y="2070810"/>
            <a:ext cx="12400908" cy="7642059"/>
          </a:xfrm>
          <a:custGeom>
            <a:avLst/>
            <a:gdLst/>
            <a:ahLst/>
            <a:cxnLst/>
            <a:rect r="r" b="b" t="t" l="l"/>
            <a:pathLst>
              <a:path h="7642059" w="12400908">
                <a:moveTo>
                  <a:pt x="0" y="0"/>
                </a:moveTo>
                <a:lnTo>
                  <a:pt x="12400908" y="0"/>
                </a:lnTo>
                <a:lnTo>
                  <a:pt x="12400908" y="7642060"/>
                </a:lnTo>
                <a:lnTo>
                  <a:pt x="0" y="7642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580531" y="794239"/>
            <a:ext cx="10841188" cy="61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n8n: Node Type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80406"/>
            <a:ext cx="8324093" cy="23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แนะนำการใช้งานเบื้องต้น  n8n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582" t="0" r="2858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>
            <a:hlinkClick r:id="rId6" tooltip="https://n8n.io"/>
          </p:cNvPr>
          <p:cNvSpPr/>
          <p:nvPr/>
        </p:nvSpPr>
        <p:spPr>
          <a:xfrm flipH="false" flipV="false" rot="0">
            <a:off x="461942" y="3522678"/>
            <a:ext cx="6597197" cy="3710923"/>
          </a:xfrm>
          <a:custGeom>
            <a:avLst/>
            <a:gdLst/>
            <a:ahLst/>
            <a:cxnLst/>
            <a:rect r="r" b="b" t="t" l="l"/>
            <a:pathLst>
              <a:path h="3710923" w="6597197">
                <a:moveTo>
                  <a:pt x="0" y="0"/>
                </a:moveTo>
                <a:lnTo>
                  <a:pt x="6597196" y="0"/>
                </a:lnTo>
                <a:lnTo>
                  <a:pt x="6597196" y="3710923"/>
                </a:lnTo>
                <a:lnTo>
                  <a:pt x="0" y="3710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n8n Workshop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5091" y="2931166"/>
            <a:ext cx="10991469" cy="673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Chatbot : Simple AI + Wikipedia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Chatbot : Simple AI + Google Calendar 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Chatbot: Telegram + Google Calendar 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MCP Server Google Calendar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MCP Server AI Agent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 MCP Client 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Extra Text to SQL Agent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ต่อกับ Module 1&amp;2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ต่อกับ AI Platform</a:t>
            </a:r>
          </a:p>
          <a:p>
            <a:pPr algn="l">
              <a:lnSpc>
                <a:spcPts val="5339"/>
              </a:lnSpc>
            </a:pP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>
            <a:hlinkClick r:id="rId6" tooltip="https://n8n.io"/>
          </p:cNvPr>
          <p:cNvSpPr/>
          <p:nvPr/>
        </p:nvSpPr>
        <p:spPr>
          <a:xfrm flipH="false" flipV="false" rot="0">
            <a:off x="461942" y="3522678"/>
            <a:ext cx="6597197" cy="3710923"/>
          </a:xfrm>
          <a:custGeom>
            <a:avLst/>
            <a:gdLst/>
            <a:ahLst/>
            <a:cxnLst/>
            <a:rect r="r" b="b" t="t" l="l"/>
            <a:pathLst>
              <a:path h="3710923" w="6597197">
                <a:moveTo>
                  <a:pt x="0" y="0"/>
                </a:moveTo>
                <a:lnTo>
                  <a:pt x="6597196" y="0"/>
                </a:lnTo>
                <a:lnTo>
                  <a:pt x="6597196" y="3710923"/>
                </a:lnTo>
                <a:lnTo>
                  <a:pt x="0" y="3710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n8n?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5091" y="2931166"/>
            <a:ext cx="10991469" cy="470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Automation Tool: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เครื่องมือทำงานอัตโนมัติ 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Low-Code Platform: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95% ลากวาง, 5% เขียนโค้ด (สำหรับงานซับซ้อน)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Workflow: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เห็นขั้นตอนการทำงานเป็นแผนผัง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Open Source: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โค้ดเปิด ชุมชนใหญ่พัฒนาร่วมกัน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Execution: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ทำงานแบบเรียลไทม์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Self-Hosted Option: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ติดตั้งในเครื่องตัวเองได้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Use n8n?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7005" y="1888861"/>
            <a:ext cx="10991469" cy="199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Time Saving: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ลดงานซ้ำๆ ที่ทำทุกวัน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Error Reduction: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ให้ระบบทำงานแทนคนลดความผิดพลาด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Efficiency Boost: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ทำงานหลายอย่างพร้อมกันได้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06" y="3945578"/>
            <a:ext cx="15634692" cy="267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Using n8n: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คัดลอกข้อมูลจาก Excel → วาง Google Sheets (ใช้เวลา 10 นาที/วัน)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เช็คอีเมล → ดาวน์โหลดไฟล์ → อัปโหลด Cloud (ใช้เวลา 5 นาที/ครั้ง)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คิดสิ่งที่ต้องการดูจาก DB → เขียน SQL สำหรับดึงข้อมูล → ดึงข้อมูลจาก DB (ใช้เวลา 20 นาที/ครั้ง)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6942" y="6794313"/>
            <a:ext cx="9444335" cy="267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After Using n8n: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Excel อัพเด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ทอัตโนมัติไป Google Sheets ทันที (0 นาที)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อีเมลใหม่ → ไฟล์แนบอัปโหลด Cloud อัตโนมัติ (10 วินาที)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ระบบรัน SQL และส่งรายงานมาให้ทุกเช้าอัตโนมัติ (0 นาที)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Components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9822" y="1803803"/>
            <a:ext cx="14828356" cy="833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3.1 Workflow</a:t>
            </a:r>
          </a:p>
          <a:p>
            <a:pPr algn="l">
              <a:lnSpc>
                <a:spcPts val="4983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</a:t>
            </a: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Definition: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ขั้นตอนการทำงานที่เราออกแบบ(เปรียบเสมือนสูตรอาหาร มีขั้นตอนชัดเจน)</a:t>
            </a:r>
          </a:p>
          <a:p>
            <a:pPr algn="l">
              <a:lnSpc>
                <a:spcPts val="4983"/>
              </a:lnSpc>
            </a:pPr>
          </a:p>
          <a:p>
            <a:pPr algn="l">
              <a:lnSpc>
                <a:spcPts val="533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3.2 Node</a:t>
            </a:r>
          </a:p>
          <a:p>
            <a:pPr algn="l">
              <a:lnSpc>
                <a:spcPts val="4983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</a:t>
            </a: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Definition: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กล่องแต่ละกล่องในเวิร์กโฟลว์</a:t>
            </a:r>
          </a:p>
          <a:p>
            <a:pPr algn="l" marL="604515" indent="-302257" lvl="1">
              <a:lnSpc>
                <a:spcPts val="4983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 Node (Starting Point):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เหมือนปุ่มสตาร์ท</a:t>
            </a:r>
          </a:p>
          <a:p>
            <a:pPr algn="l">
              <a:lnSpc>
                <a:spcPts val="4983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ตัวอย่าง: เมื่อมีอีเมลใหม่, ทุกวันเวลา 9 โมง</a:t>
            </a:r>
          </a:p>
          <a:p>
            <a:pPr algn="l" marL="604515" indent="-302257" lvl="1">
              <a:lnSpc>
                <a:spcPts val="4983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Node (Actions):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สิ่งที่เราต้องการให้ทำ</a:t>
            </a:r>
          </a:p>
          <a:p>
            <a:pPr algn="l">
              <a:lnSpc>
                <a:spcPts val="4983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ตัวอย่าง: ส่งข้อความ, บันทึกไฟล์, สร้างงาน</a:t>
            </a:r>
          </a:p>
          <a:p>
            <a:pPr algn="l">
              <a:lnSpc>
                <a:spcPts val="4983"/>
              </a:lnSpc>
            </a:pPr>
          </a:p>
          <a:p>
            <a:pPr algn="l">
              <a:lnSpc>
                <a:spcPts val="533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3.3 Connection</a:t>
            </a:r>
          </a:p>
          <a:p>
            <a:pPr algn="l">
              <a:lnSpc>
                <a:spcPts val="4983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Definition: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เส้นที่เชื่อมโหนดต่างๆ (เปรียบเสมือนท่อน้ำที่ส่งข้อมูลจากจุดหนึ่งไปอีกจุดหนึ่ง)</a:t>
            </a:r>
          </a:p>
          <a:p>
            <a:pPr algn="l">
              <a:lnSpc>
                <a:spcPts val="5339"/>
              </a:lnSpc>
            </a:pP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72106" y="2325058"/>
            <a:ext cx="14444254" cy="6933242"/>
          </a:xfrm>
          <a:custGeom>
            <a:avLst/>
            <a:gdLst/>
            <a:ahLst/>
            <a:cxnLst/>
            <a:rect r="r" b="b" t="t" l="l"/>
            <a:pathLst>
              <a:path h="6933242" w="14444254">
                <a:moveTo>
                  <a:pt x="0" y="0"/>
                </a:moveTo>
                <a:lnTo>
                  <a:pt x="14444254" y="0"/>
                </a:lnTo>
                <a:lnTo>
                  <a:pt x="14444254" y="6933242"/>
                </a:lnTo>
                <a:lnTo>
                  <a:pt x="0" y="6933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03734" y="2120739"/>
            <a:ext cx="11480532" cy="7462346"/>
          </a:xfrm>
          <a:custGeom>
            <a:avLst/>
            <a:gdLst/>
            <a:ahLst/>
            <a:cxnLst/>
            <a:rect r="r" b="b" t="t" l="l"/>
            <a:pathLst>
              <a:path h="7462346" w="11480532">
                <a:moveTo>
                  <a:pt x="0" y="0"/>
                </a:moveTo>
                <a:lnTo>
                  <a:pt x="11480532" y="0"/>
                </a:lnTo>
                <a:lnTo>
                  <a:pt x="11480532" y="7462345"/>
                </a:lnTo>
                <a:lnTo>
                  <a:pt x="0" y="7462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Editor UI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61511" y="2007410"/>
            <a:ext cx="8889021" cy="7689003"/>
          </a:xfrm>
          <a:custGeom>
            <a:avLst/>
            <a:gdLst/>
            <a:ahLst/>
            <a:cxnLst/>
            <a:rect r="r" b="b" t="t" l="l"/>
            <a:pathLst>
              <a:path h="7689003" w="8889021">
                <a:moveTo>
                  <a:pt x="0" y="0"/>
                </a:moveTo>
                <a:lnTo>
                  <a:pt x="8889021" y="0"/>
                </a:lnTo>
                <a:lnTo>
                  <a:pt x="8889021" y="7689003"/>
                </a:lnTo>
                <a:lnTo>
                  <a:pt x="0" y="7689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02473" y="3423432"/>
            <a:ext cx="4120665" cy="3100975"/>
          </a:xfrm>
          <a:custGeom>
            <a:avLst/>
            <a:gdLst/>
            <a:ahLst/>
            <a:cxnLst/>
            <a:rect r="r" b="b" t="t" l="l"/>
            <a:pathLst>
              <a:path h="3100975" w="4120665">
                <a:moveTo>
                  <a:pt x="0" y="0"/>
                </a:moveTo>
                <a:lnTo>
                  <a:pt x="4120665" y="0"/>
                </a:lnTo>
                <a:lnTo>
                  <a:pt x="4120665" y="3100975"/>
                </a:lnTo>
                <a:lnTo>
                  <a:pt x="0" y="3100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Trigger Node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3727" y="3312819"/>
            <a:ext cx="4120665" cy="3100975"/>
          </a:xfrm>
          <a:custGeom>
            <a:avLst/>
            <a:gdLst/>
            <a:ahLst/>
            <a:cxnLst/>
            <a:rect r="r" b="b" t="t" l="l"/>
            <a:pathLst>
              <a:path h="3100975" w="4120665">
                <a:moveTo>
                  <a:pt x="0" y="0"/>
                </a:moveTo>
                <a:lnTo>
                  <a:pt x="4120665" y="0"/>
                </a:lnTo>
                <a:lnTo>
                  <a:pt x="4120665" y="3100975"/>
                </a:lnTo>
                <a:lnTo>
                  <a:pt x="0" y="3100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53131" y="2540059"/>
            <a:ext cx="3410978" cy="6091693"/>
          </a:xfrm>
          <a:custGeom>
            <a:avLst/>
            <a:gdLst/>
            <a:ahLst/>
            <a:cxnLst/>
            <a:rect r="r" b="b" t="t" l="l"/>
            <a:pathLst>
              <a:path h="6091693" w="3410978">
                <a:moveTo>
                  <a:pt x="0" y="0"/>
                </a:moveTo>
                <a:lnTo>
                  <a:pt x="3410978" y="0"/>
                </a:lnTo>
                <a:lnTo>
                  <a:pt x="3410978" y="6091693"/>
                </a:lnTo>
                <a:lnTo>
                  <a:pt x="0" y="609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63973" y="3427883"/>
            <a:ext cx="7457844" cy="3431235"/>
          </a:xfrm>
          <a:custGeom>
            <a:avLst/>
            <a:gdLst/>
            <a:ahLst/>
            <a:cxnLst/>
            <a:rect r="r" b="b" t="t" l="l"/>
            <a:pathLst>
              <a:path h="3431235" w="7457844">
                <a:moveTo>
                  <a:pt x="0" y="0"/>
                </a:moveTo>
                <a:lnTo>
                  <a:pt x="7457844" y="0"/>
                </a:lnTo>
                <a:lnTo>
                  <a:pt x="7457844" y="3431234"/>
                </a:lnTo>
                <a:lnTo>
                  <a:pt x="0" y="3431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Adding Node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6130" y="2410008"/>
            <a:ext cx="14867646" cy="7192224"/>
          </a:xfrm>
          <a:custGeom>
            <a:avLst/>
            <a:gdLst/>
            <a:ahLst/>
            <a:cxnLst/>
            <a:rect r="r" b="b" t="t" l="l"/>
            <a:pathLst>
              <a:path h="7192224" w="14867646">
                <a:moveTo>
                  <a:pt x="0" y="0"/>
                </a:moveTo>
                <a:lnTo>
                  <a:pt x="14867645" y="0"/>
                </a:lnTo>
                <a:lnTo>
                  <a:pt x="14867645" y="7192224"/>
                </a:lnTo>
                <a:lnTo>
                  <a:pt x="0" y="7192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Setting</a:t>
            </a:r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92736" y="2593028"/>
            <a:ext cx="10991469" cy="537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Format: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รูปแบบข้อมูลมาตรฐานสำหรับแลกเปลี่ยนข้อมูล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Human-Readable: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อ่านและเข้าใจได้ง่าย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Lightweight: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ขนาดเล็ก น้ำหนักเบา ส่งข้อมูลเร็ว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 Independent: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ใช้ได้กับทุกภาษาโปรแกรม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Simple Structure: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โครงสร้างง่าย Object {}, Array [], String, Number, Boolean, null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Nested Data: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รองรับข้อมูลซ้อนกันได้หลายชั้น</a:t>
            </a:r>
          </a:p>
          <a:p>
            <a:pPr algn="l" marL="647694" indent="-323847" lvl="1">
              <a:lnSpc>
                <a:spcPts val="53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Cross-Platform: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ใช้ได้บนทุกระบบปฏิบัติการและแพลตฟอร์ม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9464" y="3121666"/>
            <a:ext cx="1460794" cy="449932"/>
            <a:chOff x="0" y="0"/>
            <a:chExt cx="384736" cy="1185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4736" cy="118501"/>
            </a:xfrm>
            <a:custGeom>
              <a:avLst/>
              <a:gdLst/>
              <a:ahLst/>
              <a:cxnLst/>
              <a:rect r="r" b="b" t="t" l="l"/>
              <a:pathLst>
                <a:path h="118501" w="384736">
                  <a:moveTo>
                    <a:pt x="0" y="0"/>
                  </a:moveTo>
                  <a:lnTo>
                    <a:pt x="384736" y="0"/>
                  </a:lnTo>
                  <a:lnTo>
                    <a:pt x="384736" y="118501"/>
                  </a:lnTo>
                  <a:lnTo>
                    <a:pt x="0" y="118501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84736" cy="175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JSON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05487" y="3121666"/>
            <a:ext cx="2044629" cy="449932"/>
            <a:chOff x="0" y="0"/>
            <a:chExt cx="538503" cy="1185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8503" cy="118501"/>
            </a:xfrm>
            <a:custGeom>
              <a:avLst/>
              <a:gdLst/>
              <a:ahLst/>
              <a:cxnLst/>
              <a:rect r="r" b="b" t="t" l="l"/>
              <a:pathLst>
                <a:path h="118501" w="538503">
                  <a:moveTo>
                    <a:pt x="0" y="0"/>
                  </a:moveTo>
                  <a:lnTo>
                    <a:pt x="538503" y="0"/>
                  </a:lnTo>
                  <a:lnTo>
                    <a:pt x="538503" y="118501"/>
                  </a:lnTo>
                  <a:lnTo>
                    <a:pt x="0" y="118501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38503" cy="175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39826" y="2254891"/>
            <a:ext cx="6252910" cy="60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"name": "S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omchai",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"age": 25,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"isStudent": true,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"skills": ["JavaScript", "Python"],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"address": {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"city": "Bangkok",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"zipcode": 10200</a:t>
            </a:r>
          </a:p>
          <a:p>
            <a:pPr algn="l">
              <a:lnSpc>
                <a:spcPts val="533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}</a:t>
            </a:r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40542" y="2838713"/>
            <a:ext cx="10206916" cy="4609575"/>
          </a:xfrm>
          <a:custGeom>
            <a:avLst/>
            <a:gdLst/>
            <a:ahLst/>
            <a:cxnLst/>
            <a:rect r="r" b="b" t="t" l="l"/>
            <a:pathLst>
              <a:path h="4609575" w="10206916">
                <a:moveTo>
                  <a:pt x="0" y="0"/>
                </a:moveTo>
                <a:lnTo>
                  <a:pt x="10206916" y="0"/>
                </a:lnTo>
                <a:lnTo>
                  <a:pt x="10206916" y="4609574"/>
                </a:lnTo>
                <a:lnTo>
                  <a:pt x="0" y="46095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6001" y="709613"/>
            <a:ext cx="91401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Execute the node</a:t>
            </a:r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61702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3.1: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with 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Wikipedia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17760" t="0" r="39404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168998" y="2605107"/>
            <a:ext cx="9094066" cy="5552307"/>
          </a:xfrm>
          <a:custGeom>
            <a:avLst/>
            <a:gdLst/>
            <a:ahLst/>
            <a:cxnLst/>
            <a:rect r="r" b="b" t="t" l="l"/>
            <a:pathLst>
              <a:path h="5552307" w="9094066">
                <a:moveTo>
                  <a:pt x="0" y="0"/>
                </a:moveTo>
                <a:lnTo>
                  <a:pt x="9094066" y="0"/>
                </a:lnTo>
                <a:lnTo>
                  <a:pt x="9094066" y="5552307"/>
                </a:lnTo>
                <a:lnTo>
                  <a:pt x="0" y="555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66281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with Wikipedia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866281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with Wikipedia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740134" y="2016422"/>
            <a:ext cx="13289383" cy="7425443"/>
          </a:xfrm>
          <a:custGeom>
            <a:avLst/>
            <a:gdLst/>
            <a:ahLst/>
            <a:cxnLst/>
            <a:rect r="r" b="b" t="t" l="l"/>
            <a:pathLst>
              <a:path h="7425443" w="13289383">
                <a:moveTo>
                  <a:pt x="0" y="0"/>
                </a:moveTo>
                <a:lnTo>
                  <a:pt x="13289383" y="0"/>
                </a:lnTo>
                <a:lnTo>
                  <a:pt x="13289383" y="7425443"/>
                </a:lnTo>
                <a:lnTo>
                  <a:pt x="0" y="7425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7830577" y="5191125"/>
            <a:ext cx="957153" cy="0"/>
          </a:xfrm>
          <a:prstGeom prst="line">
            <a:avLst/>
          </a:prstGeom>
          <a:ln cap="flat" w="95250">
            <a:solidFill>
              <a:srgbClr val="E60D0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1260948" y="7216651"/>
            <a:ext cx="957153" cy="0"/>
          </a:xfrm>
          <a:prstGeom prst="line">
            <a:avLst/>
          </a:prstGeom>
          <a:ln cap="flat" w="95250">
            <a:solidFill>
              <a:srgbClr val="E60D0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866281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with Wikipedia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973512" y="2497691"/>
            <a:ext cx="12340976" cy="6972652"/>
          </a:xfrm>
          <a:custGeom>
            <a:avLst/>
            <a:gdLst/>
            <a:ahLst/>
            <a:cxnLst/>
            <a:rect r="r" b="b" t="t" l="l"/>
            <a:pathLst>
              <a:path h="6972652" w="12340976">
                <a:moveTo>
                  <a:pt x="0" y="0"/>
                </a:moveTo>
                <a:lnTo>
                  <a:pt x="12340976" y="0"/>
                </a:lnTo>
                <a:lnTo>
                  <a:pt x="12340976" y="6972651"/>
                </a:lnTo>
                <a:lnTo>
                  <a:pt x="0" y="6972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H="true">
            <a:off x="3628530" y="4407206"/>
            <a:ext cx="957153" cy="0"/>
          </a:xfrm>
          <a:prstGeom prst="line">
            <a:avLst/>
          </a:prstGeom>
          <a:ln cap="flat" w="95250">
            <a:solidFill>
              <a:srgbClr val="E60D0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07107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 flipV="true">
            <a:off x="10040945" y="5273504"/>
            <a:ext cx="1376154" cy="284418"/>
          </a:xfrm>
          <a:prstGeom prst="line">
            <a:avLst/>
          </a:prstGeom>
          <a:ln cap="flat" w="57150">
            <a:solidFill>
              <a:srgbClr val="E60D0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3722225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20674" y="2261679"/>
            <a:ext cx="13961040" cy="7120130"/>
          </a:xfrm>
          <a:custGeom>
            <a:avLst/>
            <a:gdLst/>
            <a:ahLst/>
            <a:cxnLst/>
            <a:rect r="r" b="b" t="t" l="l"/>
            <a:pathLst>
              <a:path h="7120130" w="13961040">
                <a:moveTo>
                  <a:pt x="0" y="0"/>
                </a:moveTo>
                <a:lnTo>
                  <a:pt x="13961040" y="0"/>
                </a:lnTo>
                <a:lnTo>
                  <a:pt x="13961040" y="7120130"/>
                </a:lnTo>
                <a:lnTo>
                  <a:pt x="0" y="7120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0398573" y="6444911"/>
            <a:ext cx="957153" cy="0"/>
          </a:xfrm>
          <a:prstGeom prst="line">
            <a:avLst/>
          </a:prstGeom>
          <a:ln cap="flat" w="95250">
            <a:solidFill>
              <a:srgbClr val="E60D0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07107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22225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4709" y="2171090"/>
            <a:ext cx="4249871" cy="7744640"/>
          </a:xfrm>
          <a:custGeom>
            <a:avLst/>
            <a:gdLst/>
            <a:ahLst/>
            <a:cxnLst/>
            <a:rect r="r" b="b" t="t" l="l"/>
            <a:pathLst>
              <a:path h="7744640" w="4249871">
                <a:moveTo>
                  <a:pt x="0" y="0"/>
                </a:moveTo>
                <a:lnTo>
                  <a:pt x="4249871" y="0"/>
                </a:lnTo>
                <a:lnTo>
                  <a:pt x="4249871" y="7744641"/>
                </a:lnTo>
                <a:lnTo>
                  <a:pt x="0" y="7744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225079" y="3981308"/>
            <a:ext cx="418914" cy="4189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25079" y="4721495"/>
            <a:ext cx="418914" cy="4189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76423" y="5375324"/>
            <a:ext cx="418914" cy="41891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76423" y="6043411"/>
            <a:ext cx="418914" cy="4189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27196" y="7221667"/>
            <a:ext cx="418914" cy="41891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485880" y="9490124"/>
            <a:ext cx="418914" cy="41891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14716" y="9490124"/>
            <a:ext cx="418914" cy="41891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44031" y="9490124"/>
            <a:ext cx="418914" cy="41891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948866" y="7640581"/>
            <a:ext cx="2175307" cy="1396888"/>
          </a:xfrm>
          <a:custGeom>
            <a:avLst/>
            <a:gdLst/>
            <a:ahLst/>
            <a:cxnLst/>
            <a:rect r="r" b="b" t="t" l="l"/>
            <a:pathLst>
              <a:path h="1396888" w="2175307">
                <a:moveTo>
                  <a:pt x="0" y="0"/>
                </a:moveTo>
                <a:lnTo>
                  <a:pt x="2175307" y="0"/>
                </a:lnTo>
                <a:lnTo>
                  <a:pt x="2175307" y="1396889"/>
                </a:lnTo>
                <a:lnTo>
                  <a:pt x="0" y="1396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473852" y="3311641"/>
            <a:ext cx="11293283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 for Prompt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เลือกว่าจะรับข้อมูลจาก node ก่อนหน้า หรือกำหนดเอง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Prompt (User Message)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ข้อความที่จะส่งให้ AI (ใช้ {{ $json.chatInput }} สำหรับข้อมูลจาก Chat Trigger)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Require Specific Output Format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บังคับให้ AI ตอบในรูปแบบที่กำหนด (เช่น JSON)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 Fallback Mode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 - ตั้ง AI model สำรองไว้กรณีหลักใช้ไม่ได้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Message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กำหนดบุคลิกและบทบาทของ AI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 Iterations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จำกัดรอบการทำงาน (ป้องกันไม่ให้วนลูปไม่จบ)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 Streaming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ส่งคำตอบแบบ real-time (แต่ใช้กับ tools ไม่ได้)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 Model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เลือก AI model (GPT-4, Claude, Gemini)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Memory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เก็บประวัติการสนทนา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เชื่อมต่อเครื่องมือต่างๆ ที่ AI จะใช้ได้ (HTTP Request, Code Execution, Google Sheets, Wikipedia)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22225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23970" y="2321942"/>
            <a:ext cx="4084312" cy="7442938"/>
          </a:xfrm>
          <a:custGeom>
            <a:avLst/>
            <a:gdLst/>
            <a:ahLst/>
            <a:cxnLst/>
            <a:rect r="r" b="b" t="t" l="l"/>
            <a:pathLst>
              <a:path h="7442938" w="4084312">
                <a:moveTo>
                  <a:pt x="0" y="0"/>
                </a:moveTo>
                <a:lnTo>
                  <a:pt x="4084312" y="0"/>
                </a:lnTo>
                <a:lnTo>
                  <a:pt x="4084312" y="7442937"/>
                </a:lnTo>
                <a:lnTo>
                  <a:pt x="0" y="744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250253" y="3452603"/>
            <a:ext cx="418914" cy="4189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50253" y="4134392"/>
            <a:ext cx="418914" cy="4189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250253" y="4820006"/>
            <a:ext cx="418914" cy="41891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670204" y="5499600"/>
            <a:ext cx="418914" cy="4189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608407" y="4653780"/>
            <a:ext cx="8155632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Always Output Data -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บังคับให้มี output เสมอ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Execute Once -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ทำงานครั้งเดียวแม้ข้อมูลเข้ามาหลายชิ้น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Retry On Fail -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ลองใหม่เมื่อ error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Error -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เลือกว่าจะหยุด workflow หรือทำต่อเมื่อเกิด error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50253" y="3452603"/>
            <a:ext cx="418914" cy="4189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50253" y="4134392"/>
            <a:ext cx="418914" cy="41891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C00">
                <a:alpha val="8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0000">
                      <a:alpha val="80000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601885" y="1972192"/>
            <a:ext cx="13084230" cy="6754734"/>
          </a:xfrm>
          <a:custGeom>
            <a:avLst/>
            <a:gdLst/>
            <a:ahLst/>
            <a:cxnLst/>
            <a:rect r="r" b="b" t="t" l="l"/>
            <a:pathLst>
              <a:path h="6754734" w="13084230">
                <a:moveTo>
                  <a:pt x="0" y="0"/>
                </a:moveTo>
                <a:lnTo>
                  <a:pt x="13084230" y="0"/>
                </a:lnTo>
                <a:lnTo>
                  <a:pt x="13084230" y="6754734"/>
                </a:lnTo>
                <a:lnTo>
                  <a:pt x="0" y="6754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722225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</a:t>
            </a:r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61702"/>
            <a:ext cx="8923336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3.2: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with 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Hacker News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17760" t="0" r="39404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536320" y="2161926"/>
            <a:ext cx="11215360" cy="5963148"/>
          </a:xfrm>
          <a:custGeom>
            <a:avLst/>
            <a:gdLst/>
            <a:ahLst/>
            <a:cxnLst/>
            <a:rect r="r" b="b" t="t" l="l"/>
            <a:pathLst>
              <a:path h="5963148" w="11215360">
                <a:moveTo>
                  <a:pt x="0" y="0"/>
                </a:moveTo>
                <a:lnTo>
                  <a:pt x="11215360" y="0"/>
                </a:lnTo>
                <a:lnTo>
                  <a:pt x="11215360" y="5963148"/>
                </a:lnTo>
                <a:lnTo>
                  <a:pt x="0" y="596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66281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with Hacker News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69726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4: 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Building an AI Agent </a:t>
            </a:r>
          </a:p>
          <a:p>
            <a:pPr algn="ctr">
              <a:lnSpc>
                <a:spcPts val="951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9426" t="0" r="29426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69726"/>
            <a:ext cx="8324093" cy="352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4.1: 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Calendar</a:t>
            </a:r>
          </a:p>
          <a:p>
            <a:pPr algn="ctr">
              <a:lnSpc>
                <a:spcPts val="951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36407" t="0" r="20837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433495" y="2099420"/>
            <a:ext cx="11709123" cy="6609529"/>
          </a:xfrm>
          <a:custGeom>
            <a:avLst/>
            <a:gdLst/>
            <a:ahLst/>
            <a:cxnLst/>
            <a:rect r="r" b="b" t="t" l="l"/>
            <a:pathLst>
              <a:path h="6609529" w="11709123">
                <a:moveTo>
                  <a:pt x="0" y="0"/>
                </a:moveTo>
                <a:lnTo>
                  <a:pt x="11709123" y="0"/>
                </a:lnTo>
                <a:lnTo>
                  <a:pt x="11709123" y="6609529"/>
                </a:lnTo>
                <a:lnTo>
                  <a:pt x="0" y="6609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66281" y="709613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Calendar</a:t>
            </a:r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40461" y="1950132"/>
            <a:ext cx="9424454" cy="918884"/>
          </a:xfrm>
          <a:custGeom>
            <a:avLst/>
            <a:gdLst/>
            <a:ahLst/>
            <a:cxnLst/>
            <a:rect r="r" b="b" t="t" l="l"/>
            <a:pathLst>
              <a:path h="918884" w="9424454">
                <a:moveTo>
                  <a:pt x="0" y="0"/>
                </a:moveTo>
                <a:lnTo>
                  <a:pt x="9424454" y="0"/>
                </a:lnTo>
                <a:lnTo>
                  <a:pt x="9424454" y="918884"/>
                </a:lnTo>
                <a:lnTo>
                  <a:pt x="0" y="918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8694" y="2051733"/>
            <a:ext cx="7593326" cy="2026469"/>
          </a:xfrm>
          <a:custGeom>
            <a:avLst/>
            <a:gdLst/>
            <a:ahLst/>
            <a:cxnLst/>
            <a:rect r="r" b="b" t="t" l="l"/>
            <a:pathLst>
              <a:path h="2026469" w="7593326">
                <a:moveTo>
                  <a:pt x="0" y="0"/>
                </a:moveTo>
                <a:lnTo>
                  <a:pt x="7593326" y="0"/>
                </a:lnTo>
                <a:lnTo>
                  <a:pt x="7593326" y="2026469"/>
                </a:lnTo>
                <a:lnTo>
                  <a:pt x="0" y="2026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38607" y="3165359"/>
            <a:ext cx="5080201" cy="5921770"/>
          </a:xfrm>
          <a:custGeom>
            <a:avLst/>
            <a:gdLst/>
            <a:ahLst/>
            <a:cxnLst/>
            <a:rect r="r" b="b" t="t" l="l"/>
            <a:pathLst>
              <a:path h="5921770" w="5080201">
                <a:moveTo>
                  <a:pt x="0" y="0"/>
                </a:moveTo>
                <a:lnTo>
                  <a:pt x="5080201" y="0"/>
                </a:lnTo>
                <a:lnTo>
                  <a:pt x="5080201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80531" y="4509907"/>
            <a:ext cx="4455777" cy="4842009"/>
          </a:xfrm>
          <a:custGeom>
            <a:avLst/>
            <a:gdLst/>
            <a:ahLst/>
            <a:cxnLst/>
            <a:rect r="r" b="b" t="t" l="l"/>
            <a:pathLst>
              <a:path h="4842009" w="4455777">
                <a:moveTo>
                  <a:pt x="0" y="0"/>
                </a:moveTo>
                <a:lnTo>
                  <a:pt x="4455777" y="0"/>
                </a:lnTo>
                <a:lnTo>
                  <a:pt x="4455777" y="4842010"/>
                </a:lnTo>
                <a:lnTo>
                  <a:pt x="0" y="48420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310" b="-1649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80531" y="794239"/>
            <a:ext cx="108411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Cloud: Create OAuth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28713" y="2391829"/>
            <a:ext cx="656852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n8n.ubu.ac.th/rest/oauth2-credential/callback"/>
              </a:rPr>
              <a:t>https://n8n.ubu.ac.th/rest/oauth2-credential/callback</a:t>
            </a:r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69726"/>
            <a:ext cx="8324093" cy="352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4.2: 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</a:t>
            </a:r>
          </a:p>
          <a:p>
            <a:pPr algn="ctr">
              <a:lnSpc>
                <a:spcPts val="951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368931" y="2072630"/>
            <a:ext cx="11550139" cy="6141741"/>
          </a:xfrm>
          <a:custGeom>
            <a:avLst/>
            <a:gdLst/>
            <a:ahLst/>
            <a:cxnLst/>
            <a:rect r="r" b="b" t="t" l="l"/>
            <a:pathLst>
              <a:path h="6141741" w="11550139">
                <a:moveTo>
                  <a:pt x="0" y="0"/>
                </a:moveTo>
                <a:lnTo>
                  <a:pt x="11550138" y="0"/>
                </a:lnTo>
                <a:lnTo>
                  <a:pt x="11550138" y="6141740"/>
                </a:lnTo>
                <a:lnTo>
                  <a:pt x="0" y="6141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76164" y="8646274"/>
            <a:ext cx="1575484" cy="4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web.telegram.org/a/"/>
              </a:rPr>
              <a:t>Telegram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16907" y="5464528"/>
            <a:ext cx="1902465" cy="56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botfather</a:t>
            </a:r>
          </a:p>
        </p:txBody>
      </p:sp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4412" y="2209537"/>
            <a:ext cx="6759227" cy="660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{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"update_id": 854442678,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"message": {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"message_id": 3,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"from": {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"id": 8760732428,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"is_bot": false,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"first_name": "Kittikorn",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"last_name": "Sriwichai",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"language_code": "en"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},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"chat": {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"id": 8760732428,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"first_name": "Kittikorn",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"last_name": "Sriwichai",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"type": "private"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},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"date": 1788858903,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"text": "ทดสอบ"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}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}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</a:p>
        </p:txBody>
      </p:sp>
    </p:spTree>
  </p:cSld>
  <p:clrMapOvr>
    <a:masterClrMapping/>
  </p:clrMapOvr>
</p:sld>
</file>

<file path=ppt/slides/slide1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884890" y="2268057"/>
            <a:ext cx="6380169" cy="6511719"/>
          </a:xfrm>
          <a:custGeom>
            <a:avLst/>
            <a:gdLst/>
            <a:ahLst/>
            <a:cxnLst/>
            <a:rect r="r" b="b" t="t" l="l"/>
            <a:pathLst>
              <a:path h="6511719" w="6380169">
                <a:moveTo>
                  <a:pt x="0" y="0"/>
                </a:moveTo>
                <a:lnTo>
                  <a:pt x="6380170" y="0"/>
                </a:lnTo>
                <a:lnTo>
                  <a:pt x="6380170" y="6511720"/>
                </a:lnTo>
                <a:lnTo>
                  <a:pt x="0" y="6511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8471" y="2655234"/>
            <a:ext cx="8410105" cy="3983102"/>
          </a:xfrm>
          <a:custGeom>
            <a:avLst/>
            <a:gdLst/>
            <a:ahLst/>
            <a:cxnLst/>
            <a:rect r="r" b="b" t="t" l="l"/>
            <a:pathLst>
              <a:path h="3983102" w="8410105">
                <a:moveTo>
                  <a:pt x="0" y="0"/>
                </a:moveTo>
                <a:lnTo>
                  <a:pt x="8410105" y="0"/>
                </a:lnTo>
                <a:lnTo>
                  <a:pt x="8410105" y="3983103"/>
                </a:lnTo>
                <a:lnTo>
                  <a:pt x="0" y="3983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Telegram</a:t>
            </a:r>
          </a:p>
        </p:txBody>
      </p:sp>
    </p:spTree>
  </p:cSld>
  <p:clrMapOvr>
    <a:masterClrMapping/>
  </p:clrMapOvr>
</p:sld>
</file>

<file path=ppt/slides/slide1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69726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4.3: 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Server</a:t>
            </a:r>
          </a:p>
          <a:p>
            <a:pPr algn="ctr">
              <a:lnSpc>
                <a:spcPts val="951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58651" y="2838293"/>
            <a:ext cx="6153052" cy="5579462"/>
          </a:xfrm>
          <a:custGeom>
            <a:avLst/>
            <a:gdLst/>
            <a:ahLst/>
            <a:cxnLst/>
            <a:rect r="r" b="b" t="t" l="l"/>
            <a:pathLst>
              <a:path h="5579462" w="6153052">
                <a:moveTo>
                  <a:pt x="0" y="0"/>
                </a:moveTo>
                <a:lnTo>
                  <a:pt x="6153052" y="0"/>
                </a:lnTo>
                <a:lnTo>
                  <a:pt x="6153052" y="5579463"/>
                </a:lnTo>
                <a:lnTo>
                  <a:pt x="0" y="5579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73153" y="2940395"/>
            <a:ext cx="8650276" cy="5642565"/>
          </a:xfrm>
          <a:custGeom>
            <a:avLst/>
            <a:gdLst/>
            <a:ahLst/>
            <a:cxnLst/>
            <a:rect r="r" b="b" t="t" l="l"/>
            <a:pathLst>
              <a:path h="5642565" w="8650276">
                <a:moveTo>
                  <a:pt x="0" y="0"/>
                </a:moveTo>
                <a:lnTo>
                  <a:pt x="8650275" y="0"/>
                </a:lnTo>
                <a:lnTo>
                  <a:pt x="8650275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Server</a:t>
            </a:r>
          </a:p>
        </p:txBody>
      </p:sp>
    </p:spTree>
  </p:cSld>
  <p:clrMapOvr>
    <a:masterClrMapping/>
  </p:clrMapOvr>
</p:sld>
</file>

<file path=ppt/slides/slide1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21112" y="2885427"/>
            <a:ext cx="4557263" cy="5911007"/>
          </a:xfrm>
          <a:custGeom>
            <a:avLst/>
            <a:gdLst/>
            <a:ahLst/>
            <a:cxnLst/>
            <a:rect r="r" b="b" t="t" l="l"/>
            <a:pathLst>
              <a:path h="5911007" w="4557263">
                <a:moveTo>
                  <a:pt x="0" y="0"/>
                </a:moveTo>
                <a:lnTo>
                  <a:pt x="4557262" y="0"/>
                </a:lnTo>
                <a:lnTo>
                  <a:pt x="4557262" y="5911008"/>
                </a:lnTo>
                <a:lnTo>
                  <a:pt x="0" y="5911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43044" y="2885427"/>
            <a:ext cx="6078675" cy="6158657"/>
          </a:xfrm>
          <a:custGeom>
            <a:avLst/>
            <a:gdLst/>
            <a:ahLst/>
            <a:cxnLst/>
            <a:rect r="r" b="b" t="t" l="l"/>
            <a:pathLst>
              <a:path h="6158657" w="6078675">
                <a:moveTo>
                  <a:pt x="0" y="0"/>
                </a:moveTo>
                <a:lnTo>
                  <a:pt x="6078675" y="0"/>
                </a:lnTo>
                <a:lnTo>
                  <a:pt x="6078675" y="6158658"/>
                </a:lnTo>
                <a:lnTo>
                  <a:pt x="0" y="61586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MCP Server with AI tool</a:t>
            </a:r>
          </a:p>
        </p:txBody>
      </p:sp>
    </p:spTree>
  </p:cSld>
  <p:clrMapOvr>
    <a:masterClrMapping/>
  </p:clrMapOvr>
</p:sld>
</file>

<file path=ppt/slides/slide1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69726"/>
            <a:ext cx="8324093" cy="352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extra: 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Gmail</a:t>
            </a:r>
          </a:p>
          <a:p>
            <a:pPr algn="ctr">
              <a:lnSpc>
                <a:spcPts val="951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0844" y="2435551"/>
            <a:ext cx="6544603" cy="6462045"/>
          </a:xfrm>
          <a:custGeom>
            <a:avLst/>
            <a:gdLst/>
            <a:ahLst/>
            <a:cxnLst/>
            <a:rect r="r" b="b" t="t" l="l"/>
            <a:pathLst>
              <a:path h="6462045" w="6544603">
                <a:moveTo>
                  <a:pt x="0" y="0"/>
                </a:moveTo>
                <a:lnTo>
                  <a:pt x="6544604" y="0"/>
                </a:lnTo>
                <a:lnTo>
                  <a:pt x="6544604" y="6462045"/>
                </a:lnTo>
                <a:lnTo>
                  <a:pt x="0" y="6462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29461" y="3425543"/>
            <a:ext cx="8815016" cy="4439348"/>
          </a:xfrm>
          <a:custGeom>
            <a:avLst/>
            <a:gdLst/>
            <a:ahLst/>
            <a:cxnLst/>
            <a:rect r="r" b="b" t="t" l="l"/>
            <a:pathLst>
              <a:path h="4439348" w="8815016">
                <a:moveTo>
                  <a:pt x="0" y="0"/>
                </a:moveTo>
                <a:lnTo>
                  <a:pt x="8815016" y="0"/>
                </a:lnTo>
                <a:lnTo>
                  <a:pt x="8815016" y="4439348"/>
                </a:lnTo>
                <a:lnTo>
                  <a:pt x="0" y="4439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Gmail Tool</a:t>
            </a:r>
          </a:p>
        </p:txBody>
      </p:sp>
    </p:spTree>
  </p:cSld>
  <p:clrMapOvr>
    <a:masterClrMapping/>
  </p:clrMapOvr>
</p:sld>
</file>

<file path=ppt/slides/slide1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5086" y="3697011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Extra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Text-to-SQL 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0" r="61745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2862" y="3496618"/>
            <a:ext cx="15742277" cy="4604616"/>
          </a:xfrm>
          <a:custGeom>
            <a:avLst/>
            <a:gdLst/>
            <a:ahLst/>
            <a:cxnLst/>
            <a:rect r="r" b="b" t="t" l="l"/>
            <a:pathLst>
              <a:path h="4604616" w="15742277">
                <a:moveTo>
                  <a:pt x="0" y="0"/>
                </a:moveTo>
                <a:lnTo>
                  <a:pt x="15742276" y="0"/>
                </a:lnTo>
                <a:lnTo>
                  <a:pt x="15742276" y="4604616"/>
                </a:lnTo>
                <a:lnTo>
                  <a:pt x="0" y="46046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83167" y="3093829"/>
            <a:ext cx="6297326" cy="6164471"/>
          </a:xfrm>
          <a:custGeom>
            <a:avLst/>
            <a:gdLst/>
            <a:ahLst/>
            <a:cxnLst/>
            <a:rect r="r" b="b" t="t" l="l"/>
            <a:pathLst>
              <a:path h="6164471" w="6297326">
                <a:moveTo>
                  <a:pt x="0" y="0"/>
                </a:moveTo>
                <a:lnTo>
                  <a:pt x="6297327" y="0"/>
                </a:lnTo>
                <a:lnTo>
                  <a:pt x="6297327" y="6164471"/>
                </a:lnTo>
                <a:lnTo>
                  <a:pt x="0" y="6164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0339" y="2123032"/>
            <a:ext cx="6741882" cy="6602587"/>
          </a:xfrm>
          <a:custGeom>
            <a:avLst/>
            <a:gdLst/>
            <a:ahLst/>
            <a:cxnLst/>
            <a:rect r="r" b="b" t="t" l="l"/>
            <a:pathLst>
              <a:path h="6602587" w="6741882">
                <a:moveTo>
                  <a:pt x="0" y="0"/>
                </a:moveTo>
                <a:lnTo>
                  <a:pt x="6741882" y="0"/>
                </a:lnTo>
                <a:lnTo>
                  <a:pt x="6741882" y="6602587"/>
                </a:lnTo>
                <a:lnTo>
                  <a:pt x="0" y="6602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9643" y="2323674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Information Extractor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9078044"/>
            <a:ext cx="9320749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2339C8"/>
                </a:solidFill>
                <a:latin typeface="Poppins"/>
                <a:ea typeface="Poppins"/>
                <a:cs typeface="Poppins"/>
                <a:sym typeface="Poppins"/>
                <a:hlinkClick r:id="rId7" tooltip="https://docs.google.com/document/d/1w7fkNU7xX0mbqFneR-3eTugKs8xmCWqml0VxnM_15kQ/edit?usp=sharing"/>
              </a:rPr>
              <a:t>https://docs.google.com/document/d/1w7fkNU7xX0mbqFneR-3eTugKs8xmCWqml0VxnM_15kQ/edit?usp=sharing</a:t>
            </a:r>
          </a:p>
        </p:txBody>
      </p:sp>
    </p:spTree>
  </p:cSld>
  <p:clrMapOvr>
    <a:masterClrMapping/>
  </p:clrMapOvr>
</p:sld>
</file>

<file path=ppt/slides/slide1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102688" y="2923841"/>
            <a:ext cx="13084230" cy="6828333"/>
          </a:xfrm>
          <a:custGeom>
            <a:avLst/>
            <a:gdLst/>
            <a:ahLst/>
            <a:cxnLst/>
            <a:rect r="r" b="b" t="t" l="l"/>
            <a:pathLst>
              <a:path h="6828333" w="13084230">
                <a:moveTo>
                  <a:pt x="0" y="0"/>
                </a:moveTo>
                <a:lnTo>
                  <a:pt x="13084230" y="0"/>
                </a:lnTo>
                <a:lnTo>
                  <a:pt x="13084230" y="6828333"/>
                </a:lnTo>
                <a:lnTo>
                  <a:pt x="0" y="68283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066" y="2323674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Node ‘IF’</a:t>
            </a:r>
          </a:p>
        </p:txBody>
      </p:sp>
    </p:spTree>
  </p:cSld>
  <p:clrMapOvr>
    <a:masterClrMapping/>
  </p:clrMapOvr>
</p:sld>
</file>

<file path=ppt/slides/slide1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980354" y="3114013"/>
            <a:ext cx="6777987" cy="6588540"/>
          </a:xfrm>
          <a:custGeom>
            <a:avLst/>
            <a:gdLst/>
            <a:ahLst/>
            <a:cxnLst/>
            <a:rect r="r" b="b" t="t" l="l"/>
            <a:pathLst>
              <a:path h="6588540" w="6777987">
                <a:moveTo>
                  <a:pt x="0" y="0"/>
                </a:moveTo>
                <a:lnTo>
                  <a:pt x="6777987" y="0"/>
                </a:lnTo>
                <a:lnTo>
                  <a:pt x="6777987" y="6588540"/>
                </a:lnTo>
                <a:lnTo>
                  <a:pt x="0" y="6588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4525" y="3294988"/>
            <a:ext cx="7634204" cy="6349871"/>
          </a:xfrm>
          <a:custGeom>
            <a:avLst/>
            <a:gdLst/>
            <a:ahLst/>
            <a:cxnLst/>
            <a:rect r="r" b="b" t="t" l="l"/>
            <a:pathLst>
              <a:path h="6349871" w="7634204">
                <a:moveTo>
                  <a:pt x="0" y="0"/>
                </a:moveTo>
                <a:lnTo>
                  <a:pt x="7634204" y="0"/>
                </a:lnTo>
                <a:lnTo>
                  <a:pt x="7634204" y="6349871"/>
                </a:lnTo>
                <a:lnTo>
                  <a:pt x="0" y="6349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47572" y="2209138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Node ‘Edit Fields’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166280" y="2209138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Node ‘Edit Fields’</a:t>
            </a:r>
          </a:p>
        </p:txBody>
      </p:sp>
    </p:spTree>
  </p:cSld>
  <p:clrMapOvr>
    <a:masterClrMapping/>
  </p:clrMapOvr>
</p:sld>
</file>

<file path=ppt/slides/slide1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953787" y="3477758"/>
            <a:ext cx="7281529" cy="4385721"/>
          </a:xfrm>
          <a:custGeom>
            <a:avLst/>
            <a:gdLst/>
            <a:ahLst/>
            <a:cxnLst/>
            <a:rect r="r" b="b" t="t" l="l"/>
            <a:pathLst>
              <a:path h="4385721" w="7281529">
                <a:moveTo>
                  <a:pt x="0" y="0"/>
                </a:moveTo>
                <a:lnTo>
                  <a:pt x="7281529" y="0"/>
                </a:lnTo>
                <a:lnTo>
                  <a:pt x="7281529" y="4385721"/>
                </a:lnTo>
                <a:lnTo>
                  <a:pt x="0" y="43857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2333199"/>
            <a:ext cx="9573344" cy="6572024"/>
          </a:xfrm>
          <a:custGeom>
            <a:avLst/>
            <a:gdLst/>
            <a:ahLst/>
            <a:cxnLst/>
            <a:rect r="r" b="b" t="t" l="l"/>
            <a:pathLst>
              <a:path h="6572024" w="9573344">
                <a:moveTo>
                  <a:pt x="0" y="0"/>
                </a:moveTo>
                <a:lnTo>
                  <a:pt x="9573344" y="0"/>
                </a:lnTo>
                <a:lnTo>
                  <a:pt x="9573344" y="6572024"/>
                </a:lnTo>
                <a:lnTo>
                  <a:pt x="0" y="6572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182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9643" y="2323674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MySQL Code</a:t>
            </a:r>
          </a:p>
        </p:txBody>
      </p:sp>
    </p:spTree>
  </p:cSld>
  <p:clrMapOvr>
    <a:masterClrMapping/>
  </p:clrMapOvr>
</p:sld>
</file>

<file path=ppt/slides/slide1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80972" y="3714727"/>
            <a:ext cx="13084230" cy="3606341"/>
          </a:xfrm>
          <a:custGeom>
            <a:avLst/>
            <a:gdLst/>
            <a:ahLst/>
            <a:cxnLst/>
            <a:rect r="r" b="b" t="t" l="l"/>
            <a:pathLst>
              <a:path h="3606341" w="13084230">
                <a:moveTo>
                  <a:pt x="0" y="0"/>
                </a:moveTo>
                <a:lnTo>
                  <a:pt x="13084231" y="0"/>
                </a:lnTo>
                <a:lnTo>
                  <a:pt x="13084231" y="3606341"/>
                </a:lnTo>
                <a:lnTo>
                  <a:pt x="0" y="36063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29606" y="2412817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</a:t>
            </a:r>
          </a:p>
        </p:txBody>
      </p:sp>
    </p:spTree>
  </p:cSld>
  <p:clrMapOvr>
    <a:masterClrMapping/>
  </p:clrMapOvr>
</p:sld>
</file>

<file path=ppt/slides/slide1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07748" y="2391093"/>
            <a:ext cx="9518396" cy="5966458"/>
          </a:xfrm>
          <a:custGeom>
            <a:avLst/>
            <a:gdLst/>
            <a:ahLst/>
            <a:cxnLst/>
            <a:rect r="r" b="b" t="t" l="l"/>
            <a:pathLst>
              <a:path h="5966458" w="9518396">
                <a:moveTo>
                  <a:pt x="0" y="0"/>
                </a:moveTo>
                <a:lnTo>
                  <a:pt x="9518396" y="0"/>
                </a:lnTo>
                <a:lnTo>
                  <a:pt x="9518396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6715" y="2287008"/>
            <a:ext cx="6695268" cy="6590106"/>
          </a:xfrm>
          <a:custGeom>
            <a:avLst/>
            <a:gdLst/>
            <a:ahLst/>
            <a:cxnLst/>
            <a:rect r="r" b="b" t="t" l="l"/>
            <a:pathLst>
              <a:path h="6590106" w="6695268">
                <a:moveTo>
                  <a:pt x="0" y="0"/>
                </a:moveTo>
                <a:lnTo>
                  <a:pt x="6695267" y="0"/>
                </a:lnTo>
                <a:lnTo>
                  <a:pt x="6695267" y="6590106"/>
                </a:lnTo>
                <a:lnTo>
                  <a:pt x="0" y="6590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40197" y="2736241"/>
            <a:ext cx="10423381" cy="5691640"/>
          </a:xfrm>
          <a:custGeom>
            <a:avLst/>
            <a:gdLst/>
            <a:ahLst/>
            <a:cxnLst/>
            <a:rect r="r" b="b" t="t" l="l"/>
            <a:pathLst>
              <a:path h="5691640" w="10423381">
                <a:moveTo>
                  <a:pt x="0" y="0"/>
                </a:moveTo>
                <a:lnTo>
                  <a:pt x="10423381" y="0"/>
                </a:lnTo>
                <a:lnTo>
                  <a:pt x="10423381" y="5691640"/>
                </a:lnTo>
                <a:lnTo>
                  <a:pt x="0" y="5691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527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28471" y="4103696"/>
            <a:ext cx="20393745" cy="3390460"/>
          </a:xfrm>
          <a:custGeom>
            <a:avLst/>
            <a:gdLst/>
            <a:ahLst/>
            <a:cxnLst/>
            <a:rect r="r" b="b" t="t" l="l"/>
            <a:pathLst>
              <a:path h="3390460" w="20393745">
                <a:moveTo>
                  <a:pt x="0" y="0"/>
                </a:moveTo>
                <a:lnTo>
                  <a:pt x="20393745" y="0"/>
                </a:lnTo>
                <a:lnTo>
                  <a:pt x="20393745" y="3390460"/>
                </a:lnTo>
                <a:lnTo>
                  <a:pt x="0" y="3390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294080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 Text-to-SQL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29606" y="2412817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</a:t>
            </a:r>
          </a:p>
        </p:txBody>
      </p:sp>
    </p:spTree>
  </p:cSld>
  <p:clrMapOvr>
    <a:masterClrMapping/>
  </p:clrMapOvr>
</p:sld>
</file>

<file path=ppt/slides/slide1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582" t="0" r="2858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5086" y="3697011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5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Connected 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</p:spTree>
  </p:cSld>
  <p:clrMapOvr>
    <a:masterClrMapping/>
  </p:clrMapOvr>
</p:sld>
</file>

<file path=ppt/slides/slide1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582" t="0" r="2858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5086" y="3697011"/>
            <a:ext cx="8324093" cy="35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5.1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Connected 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Agent</a:t>
            </a:r>
          </a:p>
        </p:txBody>
      </p:sp>
    </p:spTree>
  </p:cSld>
  <p:clrMapOvr>
    <a:masterClrMapping/>
  </p:clrMapOvr>
</p:sld>
</file>

<file path=ppt/slides/slide1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645786"/>
            <a:ext cx="7677559" cy="3464707"/>
          </a:xfrm>
          <a:custGeom>
            <a:avLst/>
            <a:gdLst/>
            <a:ahLst/>
            <a:cxnLst/>
            <a:rect r="r" b="b" t="t" l="l"/>
            <a:pathLst>
              <a:path h="3464707" w="7677559">
                <a:moveTo>
                  <a:pt x="0" y="0"/>
                </a:moveTo>
                <a:lnTo>
                  <a:pt x="7677559" y="0"/>
                </a:lnTo>
                <a:lnTo>
                  <a:pt x="7677559" y="3464707"/>
                </a:lnTo>
                <a:lnTo>
                  <a:pt x="0" y="3464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619449" y="2473793"/>
            <a:ext cx="3545080" cy="6290456"/>
          </a:xfrm>
          <a:custGeom>
            <a:avLst/>
            <a:gdLst/>
            <a:ahLst/>
            <a:cxnLst/>
            <a:rect r="r" b="b" t="t" l="l"/>
            <a:pathLst>
              <a:path h="6290456" w="3545080">
                <a:moveTo>
                  <a:pt x="0" y="0"/>
                </a:moveTo>
                <a:lnTo>
                  <a:pt x="3545080" y="0"/>
                </a:lnTo>
                <a:lnTo>
                  <a:pt x="3545080" y="6290456"/>
                </a:lnTo>
                <a:lnTo>
                  <a:pt x="0" y="6290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55326" y="438256"/>
            <a:ext cx="10843551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 </a:t>
            </a:r>
          </a:p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1 &amp; 2</a:t>
            </a:r>
          </a:p>
          <a:p>
            <a:pPr algn="ctr">
              <a:lnSpc>
                <a:spcPts val="4920"/>
              </a:lnSpc>
            </a:pPr>
          </a:p>
        </p:txBody>
      </p:sp>
    </p:spTree>
  </p:cSld>
  <p:clrMapOvr>
    <a:masterClrMapping/>
  </p:clrMapOvr>
</p:sld>
</file>

<file path=ppt/slides/slide1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582" t="0" r="2858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5086" y="3697011"/>
            <a:ext cx="8324093" cy="47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5.2</a:t>
            </a:r>
          </a:p>
          <a:p>
            <a:pPr algn="ctr">
              <a:lnSpc>
                <a:spcPts val="9513"/>
              </a:lnSpc>
            </a:pPr>
            <a:r>
              <a:rPr lang="en-US" sz="5872" b="true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 with </a:t>
            </a:r>
          </a:p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Generative AI Platform</a:t>
            </a:r>
          </a:p>
        </p:txBody>
      </p:sp>
    </p:spTree>
  </p:cSld>
  <p:clrMapOvr>
    <a:masterClrMapping/>
  </p:clrMapOvr>
</p:sld>
</file>

<file path=ppt/slides/slide1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11390" y="2908524"/>
            <a:ext cx="6654555" cy="5611202"/>
          </a:xfrm>
          <a:custGeom>
            <a:avLst/>
            <a:gdLst/>
            <a:ahLst/>
            <a:cxnLst/>
            <a:rect r="r" b="b" t="t" l="l"/>
            <a:pathLst>
              <a:path h="5611202" w="6654555">
                <a:moveTo>
                  <a:pt x="0" y="0"/>
                </a:moveTo>
                <a:lnTo>
                  <a:pt x="6654554" y="0"/>
                </a:lnTo>
                <a:lnTo>
                  <a:pt x="6654554" y="5611202"/>
                </a:lnTo>
                <a:lnTo>
                  <a:pt x="0" y="5611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60079" y="4311069"/>
            <a:ext cx="8525864" cy="2806651"/>
          </a:xfrm>
          <a:custGeom>
            <a:avLst/>
            <a:gdLst/>
            <a:ahLst/>
            <a:cxnLst/>
            <a:rect r="r" b="b" t="t" l="l"/>
            <a:pathLst>
              <a:path h="2806651" w="8525864">
                <a:moveTo>
                  <a:pt x="0" y="0"/>
                </a:moveTo>
                <a:lnTo>
                  <a:pt x="8525865" y="0"/>
                </a:lnTo>
                <a:lnTo>
                  <a:pt x="8525865" y="2806651"/>
                </a:lnTo>
                <a:lnTo>
                  <a:pt x="0" y="28066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55326" y="438256"/>
            <a:ext cx="10843551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 </a:t>
            </a:r>
          </a:p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Claude</a:t>
            </a:r>
          </a:p>
          <a:p>
            <a:pPr algn="ctr">
              <a:lnSpc>
                <a:spcPts val="4920"/>
              </a:lnSpc>
            </a:pPr>
          </a:p>
        </p:txBody>
      </p:sp>
    </p:spTree>
  </p:cSld>
  <p:clrMapOvr>
    <a:masterClrMapping/>
  </p:clrMapOvr>
</p:sld>
</file>

<file path=ppt/slides/slide1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7371" y="2337625"/>
            <a:ext cx="9819132" cy="4553913"/>
          </a:xfrm>
          <a:custGeom>
            <a:avLst/>
            <a:gdLst/>
            <a:ahLst/>
            <a:cxnLst/>
            <a:rect r="r" b="b" t="t" l="l"/>
            <a:pathLst>
              <a:path h="4553913" w="9819132">
                <a:moveTo>
                  <a:pt x="0" y="0"/>
                </a:moveTo>
                <a:lnTo>
                  <a:pt x="9819132" y="0"/>
                </a:lnTo>
                <a:lnTo>
                  <a:pt x="9819132" y="4553913"/>
                </a:lnTo>
                <a:lnTo>
                  <a:pt x="0" y="4553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3687294"/>
            <a:ext cx="7799441" cy="5987449"/>
          </a:xfrm>
          <a:custGeom>
            <a:avLst/>
            <a:gdLst/>
            <a:ahLst/>
            <a:cxnLst/>
            <a:rect r="r" b="b" t="t" l="l"/>
            <a:pathLst>
              <a:path h="5987449" w="7799441">
                <a:moveTo>
                  <a:pt x="0" y="0"/>
                </a:moveTo>
                <a:lnTo>
                  <a:pt x="7799441" y="0"/>
                </a:lnTo>
                <a:lnTo>
                  <a:pt x="7799441" y="5987449"/>
                </a:lnTo>
                <a:lnTo>
                  <a:pt x="0" y="5987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55326" y="438256"/>
            <a:ext cx="10843551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 </a:t>
            </a:r>
          </a:p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Claude</a:t>
            </a:r>
          </a:p>
          <a:p>
            <a:pPr algn="ctr">
              <a:lnSpc>
                <a:spcPts val="4920"/>
              </a:lnSpc>
            </a:pPr>
          </a:p>
        </p:txBody>
      </p:sp>
    </p:spTree>
  </p:cSld>
  <p:clrMapOvr>
    <a:masterClrMapping/>
  </p:clrMapOvr>
</p:sld>
</file>

<file path=ppt/slides/slide1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6443" y="2546724"/>
            <a:ext cx="4054966" cy="6429908"/>
          </a:xfrm>
          <a:custGeom>
            <a:avLst/>
            <a:gdLst/>
            <a:ahLst/>
            <a:cxnLst/>
            <a:rect r="r" b="b" t="t" l="l"/>
            <a:pathLst>
              <a:path h="6429908" w="4054966">
                <a:moveTo>
                  <a:pt x="0" y="0"/>
                </a:moveTo>
                <a:lnTo>
                  <a:pt x="4054966" y="0"/>
                </a:lnTo>
                <a:lnTo>
                  <a:pt x="4054966" y="6429907"/>
                </a:lnTo>
                <a:lnTo>
                  <a:pt x="0" y="6429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31767" y="2776440"/>
            <a:ext cx="7775023" cy="5811968"/>
          </a:xfrm>
          <a:custGeom>
            <a:avLst/>
            <a:gdLst/>
            <a:ahLst/>
            <a:cxnLst/>
            <a:rect r="r" b="b" t="t" l="l"/>
            <a:pathLst>
              <a:path h="5811968" w="7775023">
                <a:moveTo>
                  <a:pt x="0" y="0"/>
                </a:moveTo>
                <a:lnTo>
                  <a:pt x="7775024" y="0"/>
                </a:lnTo>
                <a:lnTo>
                  <a:pt x="7775024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441699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ChatGPT</a:t>
            </a:r>
          </a:p>
        </p:txBody>
      </p:sp>
    </p:spTree>
  </p:cSld>
  <p:clrMapOvr>
    <a:masterClrMapping/>
  </p:clrMapOvr>
</p:sld>
</file>

<file path=ppt/slides/slide1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12817" y="2501547"/>
            <a:ext cx="6906928" cy="6234948"/>
          </a:xfrm>
          <a:custGeom>
            <a:avLst/>
            <a:gdLst/>
            <a:ahLst/>
            <a:cxnLst/>
            <a:rect r="r" b="b" t="t" l="l"/>
            <a:pathLst>
              <a:path h="6234948" w="6906928">
                <a:moveTo>
                  <a:pt x="0" y="0"/>
                </a:moveTo>
                <a:lnTo>
                  <a:pt x="6906928" y="0"/>
                </a:lnTo>
                <a:lnTo>
                  <a:pt x="6906928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79718" y="3299733"/>
            <a:ext cx="10463046" cy="3600724"/>
          </a:xfrm>
          <a:custGeom>
            <a:avLst/>
            <a:gdLst/>
            <a:ahLst/>
            <a:cxnLst/>
            <a:rect r="r" b="b" t="t" l="l"/>
            <a:pathLst>
              <a:path h="3600724" w="10463046">
                <a:moveTo>
                  <a:pt x="0" y="0"/>
                </a:moveTo>
                <a:lnTo>
                  <a:pt x="10463046" y="0"/>
                </a:lnTo>
                <a:lnTo>
                  <a:pt x="10463046" y="3600724"/>
                </a:lnTo>
                <a:lnTo>
                  <a:pt x="0" y="360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441699"/>
            <a:ext cx="1084355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Connect </a:t>
            </a:r>
          </a:p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ChatGPT</a:t>
            </a:r>
          </a:p>
        </p:txBody>
      </p:sp>
    </p:spTree>
  </p:cSld>
  <p:clrMapOvr>
    <a:masterClrMapping/>
  </p:clrMapOvr>
</p:sld>
</file>

<file path=ppt/slides/slide1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8471" y="4594404"/>
            <a:ext cx="8324093" cy="112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b="true" sz="5872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เทคนิค n8n เพิ่มเติม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582" t="0" r="2858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26881" y="3912701"/>
            <a:ext cx="8291102" cy="3772452"/>
          </a:xfrm>
          <a:custGeom>
            <a:avLst/>
            <a:gdLst/>
            <a:ahLst/>
            <a:cxnLst/>
            <a:rect r="r" b="b" t="t" l="l"/>
            <a:pathLst>
              <a:path h="3772452" w="8291102">
                <a:moveTo>
                  <a:pt x="0" y="0"/>
                </a:moveTo>
                <a:lnTo>
                  <a:pt x="8291103" y="0"/>
                </a:lnTo>
                <a:lnTo>
                  <a:pt x="8291103" y="3772451"/>
                </a:lnTo>
                <a:lnTo>
                  <a:pt x="0" y="3772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7704" y="2688933"/>
            <a:ext cx="8054652" cy="4996219"/>
          </a:xfrm>
          <a:custGeom>
            <a:avLst/>
            <a:gdLst/>
            <a:ahLst/>
            <a:cxnLst/>
            <a:rect r="r" b="b" t="t" l="l"/>
            <a:pathLst>
              <a:path h="4996219" w="8054652">
                <a:moveTo>
                  <a:pt x="0" y="0"/>
                </a:moveTo>
                <a:lnTo>
                  <a:pt x="8054651" y="0"/>
                </a:lnTo>
                <a:lnTo>
                  <a:pt x="8054651" y="4996219"/>
                </a:lnTo>
                <a:lnTo>
                  <a:pt x="0" y="4996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 Workflow</a:t>
            </a:r>
          </a:p>
        </p:txBody>
      </p:sp>
    </p:spTree>
  </p:cSld>
  <p:clrMapOvr>
    <a:masterClrMapping/>
  </p:clrMapOvr>
</p:sld>
</file>

<file path=ppt/slides/slide1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493371" y="2106287"/>
            <a:ext cx="11301259" cy="6074427"/>
          </a:xfrm>
          <a:custGeom>
            <a:avLst/>
            <a:gdLst/>
            <a:ahLst/>
            <a:cxnLst/>
            <a:rect r="r" b="b" t="t" l="l"/>
            <a:pathLst>
              <a:path h="6074427" w="11301259">
                <a:moveTo>
                  <a:pt x="0" y="0"/>
                </a:moveTo>
                <a:lnTo>
                  <a:pt x="11301258" y="0"/>
                </a:lnTo>
                <a:lnTo>
                  <a:pt x="11301258" y="6074426"/>
                </a:lnTo>
                <a:lnTo>
                  <a:pt x="0" y="6074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Schedule Trigger</a:t>
            </a:r>
          </a:p>
        </p:txBody>
      </p:sp>
    </p:spTree>
  </p:cSld>
  <p:clrMapOvr>
    <a:masterClrMapping/>
  </p:clrMapOvr>
</p:sld>
</file>

<file path=ppt/slides/slide1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6281" y="81155"/>
            <a:ext cx="10555438" cy="1683149"/>
            <a:chOff x="0" y="0"/>
            <a:chExt cx="2780033" cy="44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938245" y="2412144"/>
            <a:ext cx="10411510" cy="5462712"/>
          </a:xfrm>
          <a:custGeom>
            <a:avLst/>
            <a:gdLst/>
            <a:ahLst/>
            <a:cxnLst/>
            <a:rect r="r" b="b" t="t" l="l"/>
            <a:pathLst>
              <a:path h="5462712" w="10411510">
                <a:moveTo>
                  <a:pt x="0" y="0"/>
                </a:moveTo>
                <a:lnTo>
                  <a:pt x="10411510" y="0"/>
                </a:lnTo>
                <a:lnTo>
                  <a:pt x="10411510" y="5462712"/>
                </a:lnTo>
                <a:lnTo>
                  <a:pt x="0" y="54627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225" y="603642"/>
            <a:ext cx="1084355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b="true" sz="4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IF Node</a:t>
            </a:r>
          </a:p>
        </p:txBody>
      </p:sp>
    </p:spTree>
  </p:cSld>
  <p:clrMapOvr>
    <a:masterClrMapping/>
  </p:clrMapOvr>
</p:sld>
</file>

<file path=ppt/slides/slide1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80531" y="266983"/>
            <a:ext cx="10841188" cy="1683149"/>
            <a:chOff x="0" y="0"/>
            <a:chExt cx="2855292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5292" cy="443298"/>
            </a:xfrm>
            <a:custGeom>
              <a:avLst/>
              <a:gdLst/>
              <a:ahLst/>
              <a:cxnLst/>
              <a:rect r="r" b="b" t="t" l="l"/>
              <a:pathLst>
                <a:path h="443298" w="2855292">
                  <a:moveTo>
                    <a:pt x="65699" y="0"/>
                  </a:moveTo>
                  <a:lnTo>
                    <a:pt x="2789593" y="0"/>
                  </a:lnTo>
                  <a:cubicBezTo>
                    <a:pt x="2807018" y="0"/>
                    <a:pt x="2823729" y="6922"/>
                    <a:pt x="2836050" y="19243"/>
                  </a:cubicBezTo>
                  <a:cubicBezTo>
                    <a:pt x="2848371" y="31564"/>
                    <a:pt x="2855292" y="48275"/>
                    <a:pt x="2855292" y="65699"/>
                  </a:cubicBezTo>
                  <a:lnTo>
                    <a:pt x="2855292" y="377599"/>
                  </a:lnTo>
                  <a:cubicBezTo>
                    <a:pt x="2855292" y="413884"/>
                    <a:pt x="2825878" y="443298"/>
                    <a:pt x="2789593" y="443298"/>
                  </a:cubicBezTo>
                  <a:lnTo>
                    <a:pt x="65699" y="443298"/>
                  </a:lnTo>
                  <a:cubicBezTo>
                    <a:pt x="29415" y="443298"/>
                    <a:pt x="0" y="413884"/>
                    <a:pt x="0" y="377599"/>
                  </a:cubicBezTo>
                  <a:lnTo>
                    <a:pt x="0" y="65699"/>
                  </a:lnTo>
                  <a:cubicBezTo>
                    <a:pt x="0" y="29415"/>
                    <a:pt x="29415" y="0"/>
                    <a:pt x="65699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855292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5962" y="2390729"/>
            <a:ext cx="17066904" cy="6666760"/>
          </a:xfrm>
          <a:custGeom>
            <a:avLst/>
            <a:gdLst/>
            <a:ahLst/>
            <a:cxnLst/>
            <a:rect r="r" b="b" t="t" l="l"/>
            <a:pathLst>
              <a:path h="6666760" w="17066904">
                <a:moveTo>
                  <a:pt x="0" y="0"/>
                </a:moveTo>
                <a:lnTo>
                  <a:pt x="17066904" y="0"/>
                </a:lnTo>
                <a:lnTo>
                  <a:pt x="17066904" y="6666759"/>
                </a:lnTo>
                <a:lnTo>
                  <a:pt x="0" y="6666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37335" y="333375"/>
            <a:ext cx="97275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Should We </a:t>
            </a:r>
          </a:p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 with AI Agents</a:t>
            </a:r>
          </a:p>
        </p:txBody>
      </p:sp>
    </p:spTree>
  </p:cSld>
  <p:clrMapOvr>
    <a:masterClrMapping/>
  </p:clrMapOvr>
</p:sld>
</file>

<file path=ppt/slides/slide1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01313">
            <a:off x="7944412" y="2305957"/>
            <a:ext cx="1603602" cy="9552208"/>
            <a:chOff x="0" y="0"/>
            <a:chExt cx="422348" cy="25158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2348" cy="257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801313">
            <a:off x="17293479" y="-4169084"/>
            <a:ext cx="1603602" cy="9552208"/>
            <a:chOff x="0" y="0"/>
            <a:chExt cx="422348" cy="2515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22348" cy="257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323218">
            <a:off x="-260294" y="-2499941"/>
            <a:ext cx="9329309" cy="13900928"/>
            <a:chOff x="0" y="0"/>
            <a:chExt cx="640025" cy="9536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025" cy="953655"/>
            </a:xfrm>
            <a:custGeom>
              <a:avLst/>
              <a:gdLst/>
              <a:ahLst/>
              <a:cxnLst/>
              <a:rect r="r" b="b" t="t" l="l"/>
              <a:pathLst>
                <a:path h="953655" w="640025">
                  <a:moveTo>
                    <a:pt x="203200" y="0"/>
                  </a:moveTo>
                  <a:lnTo>
                    <a:pt x="640025" y="0"/>
                  </a:lnTo>
                  <a:lnTo>
                    <a:pt x="436825" y="953655"/>
                  </a:lnTo>
                  <a:lnTo>
                    <a:pt x="0" y="9536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57150"/>
              <a:ext cx="436825" cy="10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7234808">
            <a:off x="-545671" y="4853273"/>
            <a:ext cx="16230600" cy="770953"/>
          </a:xfrm>
          <a:custGeom>
            <a:avLst/>
            <a:gdLst/>
            <a:ahLst/>
            <a:cxnLst/>
            <a:rect r="r" b="b" t="t" l="l"/>
            <a:pathLst>
              <a:path h="770953" w="16230600">
                <a:moveTo>
                  <a:pt x="0" y="0"/>
                </a:moveTo>
                <a:lnTo>
                  <a:pt x="16230600" y="0"/>
                </a:lnTo>
                <a:lnTo>
                  <a:pt x="16230600" y="770954"/>
                </a:lnTo>
                <a:lnTo>
                  <a:pt x="0" y="77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0" y="-110826"/>
            <a:ext cx="10341615" cy="10508652"/>
            <a:chOff x="0" y="0"/>
            <a:chExt cx="5765800" cy="5858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65800" cy="5858891"/>
            </a:xfrm>
            <a:custGeom>
              <a:avLst/>
              <a:gdLst/>
              <a:ahLst/>
              <a:cxnLst/>
              <a:rect r="r" b="b" t="t" l="l"/>
              <a:pathLst>
                <a:path h="5858891" w="5765800">
                  <a:moveTo>
                    <a:pt x="0" y="0"/>
                  </a:moveTo>
                  <a:lnTo>
                    <a:pt x="0" y="5858891"/>
                  </a:lnTo>
                  <a:lnTo>
                    <a:pt x="5765800" y="5858891"/>
                  </a:lnTo>
                  <a:lnTo>
                    <a:pt x="2235200" y="0"/>
                  </a:lnTo>
                  <a:close/>
                </a:path>
              </a:pathLst>
            </a:custGeom>
            <a:blipFill>
              <a:blip r:embed="rId4"/>
              <a:stretch>
                <a:fillRect l="-26258" t="0" r="-2625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42748" cy="2135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12800" cy="212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226393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1" y="0"/>
                </a:lnTo>
                <a:lnTo>
                  <a:pt x="1456941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461201" y="6565334"/>
            <a:ext cx="9437704" cy="121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87"/>
              </a:lnSpc>
            </a:pPr>
            <a:r>
              <a:rPr lang="en-US" b="true" sz="9187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08847" y="8061545"/>
            <a:ext cx="5050453" cy="126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true">
                <a:solidFill>
                  <a:srgbClr val="003D60"/>
                </a:solidFill>
                <a:latin typeface="Poppins Bold"/>
                <a:ea typeface="Poppins Bold"/>
                <a:cs typeface="Poppins Bold"/>
                <a:sym typeface="Poppins Bold"/>
              </a:rPr>
              <a:t>nithirun@imcinstitute.com</a:t>
            </a:r>
          </a:p>
          <a:p>
            <a:pPr algn="r">
              <a:lnSpc>
                <a:spcPts val="3360"/>
              </a:lnSpc>
            </a:pPr>
            <a:r>
              <a:rPr lang="en-US" sz="2400" b="true">
                <a:solidFill>
                  <a:srgbClr val="003D60"/>
                </a:solidFill>
                <a:latin typeface="Poppins Bold"/>
                <a:ea typeface="Poppins Bold"/>
                <a:cs typeface="Poppins Bold"/>
                <a:sym typeface="Poppins Bold"/>
              </a:rPr>
              <a:t>kittikorn@imcinstitute.com</a:t>
            </a:r>
          </a:p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3D60"/>
                </a:solidFill>
                <a:latin typeface="Poppins Bold"/>
                <a:ea typeface="Poppins Bold"/>
                <a:cs typeface="Poppins Bold"/>
                <a:sym typeface="Poppins Bold"/>
              </a:rPr>
              <a:t>FB: imcinstitute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DAHTwtTnQQE</dc:identifier>
  <dcterms:modified xsi:type="dcterms:W3CDTF">2011-08-01T06:04:30Z</dcterms:modified>
  <cp:revision>1</cp:revision>
  <dc:title>Agentic AI Showcase 8 Sep</dc:title>
</cp:coreProperties>
</file>